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307" r:id="rId4"/>
    <p:sldId id="259" r:id="rId5"/>
    <p:sldId id="284" r:id="rId6"/>
    <p:sldId id="288" r:id="rId7"/>
    <p:sldId id="287" r:id="rId8"/>
    <p:sldId id="300" r:id="rId9"/>
    <p:sldId id="292" r:id="rId10"/>
    <p:sldId id="293" r:id="rId11"/>
    <p:sldId id="303" r:id="rId12"/>
    <p:sldId id="294" r:id="rId13"/>
    <p:sldId id="304" r:id="rId14"/>
    <p:sldId id="295" r:id="rId15"/>
    <p:sldId id="305" r:id="rId16"/>
    <p:sldId id="296" r:id="rId17"/>
    <p:sldId id="306" r:id="rId18"/>
    <p:sldId id="299" r:id="rId19"/>
    <p:sldId id="268" r:id="rId20"/>
    <p:sldId id="269" r:id="rId21"/>
  </p:sldIdLst>
  <p:sldSz cx="13817600" cy="7772400"/>
  <p:notesSz cx="10058400" cy="77724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9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D36422-03A4-4C53-A4FF-4A1CDB8DFDF3}" v="1" dt="2026-09-30T03:57:09.83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69" d="100"/>
          <a:sy n="69" d="100"/>
        </p:scale>
        <p:origin x="1147" y="67"/>
      </p:cViewPr>
      <p:guideLst>
        <p:guide orient="horz" pos="2880"/>
        <p:guide pos="2967"/>
      </p:guideLst>
    </p:cSldViewPr>
  </p:slideViewPr>
  <p:notesTextViewPr>
    <p:cViewPr>
      <p:scale>
        <a:sx n="100" d="100"/>
        <a:sy n="100" d="100"/>
      </p:scale>
      <p:origin x="0" y="0"/>
    </p:cViewPr>
  </p:notesTextViewPr>
  <p:sorterViewPr>
    <p:cViewPr>
      <p:scale>
        <a:sx n="100" d="100"/>
        <a:sy n="100" d="100"/>
      </p:scale>
      <p:origin x="0" y="-261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NUKA LAHARI" userId="5ef80de0f176f62a" providerId="LiveId" clId="{4D611AAF-231B-4AF9-958B-3076041CF495}"/>
    <pc:docChg chg="modSld">
      <pc:chgData name="RENUKA LAHARI" userId="5ef80de0f176f62a" providerId="LiveId" clId="{4D611AAF-231B-4AF9-958B-3076041CF495}" dt="2026-09-30T03:57:29.612" v="15" actId="20577"/>
      <pc:docMkLst>
        <pc:docMk/>
      </pc:docMkLst>
      <pc:sldChg chg="modSp mod">
        <pc:chgData name="RENUKA LAHARI" userId="5ef80de0f176f62a" providerId="LiveId" clId="{4D611AAF-231B-4AF9-958B-3076041CF495}" dt="2026-09-30T03:57:29.612" v="15" actId="20577"/>
        <pc:sldMkLst>
          <pc:docMk/>
          <pc:sldMk cId="26077263" sldId="292"/>
        </pc:sldMkLst>
        <pc:spChg chg="mod">
          <ac:chgData name="RENUKA LAHARI" userId="5ef80de0f176f62a" providerId="LiveId" clId="{4D611AAF-231B-4AF9-958B-3076041CF495}" dt="2026-09-30T03:57:19.436" v="12" actId="207"/>
          <ac:spMkLst>
            <pc:docMk/>
            <pc:sldMk cId="26077263" sldId="292"/>
            <ac:spMk id="11" creationId="{42437192-04CB-5C20-0CD4-4C6CB27A1E07}"/>
          </ac:spMkLst>
        </pc:spChg>
        <pc:graphicFrameChg chg="modGraphic">
          <ac:chgData name="RENUKA LAHARI" userId="5ef80de0f176f62a" providerId="LiveId" clId="{4D611AAF-231B-4AF9-958B-3076041CF495}" dt="2026-09-30T03:57:29.612" v="15" actId="20577"/>
          <ac:graphicFrameMkLst>
            <pc:docMk/>
            <pc:sldMk cId="26077263" sldId="292"/>
            <ac:graphicFrameMk id="12" creationId="{8CBD85A5-10D0-DB44-902E-B0E7A79A6AF7}"/>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30-09-2026</a:t>
            </a:fld>
            <a:endParaRPr lang="en-IN"/>
          </a:p>
        </p:txBody>
      </p:sp>
      <p:sp>
        <p:nvSpPr>
          <p:cNvPr id="4" name="Slide Image Placeholder 3"/>
          <p:cNvSpPr>
            <a:spLocks noGrp="1" noRot="1" noChangeAspect="1"/>
          </p:cNvSpPr>
          <p:nvPr>
            <p:ph type="sldImg" idx="2"/>
          </p:nvPr>
        </p:nvSpPr>
        <p:spPr>
          <a:xfrm>
            <a:off x="2698750" y="971550"/>
            <a:ext cx="4660900"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8750" y="971550"/>
            <a:ext cx="4660900" cy="262255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E471F2-2083-493A-8C9E-53209FFA1EC8}" type="slidenum">
              <a:rPr lang="en-IN" smtClean="0"/>
              <a:t>19</a:t>
            </a:fld>
            <a:endParaRPr lang="en-IN"/>
          </a:p>
        </p:txBody>
      </p:sp>
    </p:spTree>
    <p:extLst>
      <p:ext uri="{BB962C8B-B14F-4D97-AF65-F5344CB8AC3E}">
        <p14:creationId xmlns:p14="http://schemas.microsoft.com/office/powerpoint/2010/main" val="320870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36320" y="2409444"/>
            <a:ext cx="11744960" cy="353943"/>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2072640" y="4352544"/>
            <a:ext cx="9672320" cy="300082"/>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690880" y="1787652"/>
            <a:ext cx="6010656" cy="30008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116064" y="1787652"/>
            <a:ext cx="6010656" cy="30008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637734" y="258723"/>
            <a:ext cx="6321068" cy="704793"/>
          </a:xfrm>
          <a:prstGeom prst="rect">
            <a:avLst/>
          </a:prstGeom>
        </p:spPr>
      </p:pic>
      <p:pic>
        <p:nvPicPr>
          <p:cNvPr id="17" name="bg object 17"/>
          <p:cNvPicPr/>
          <p:nvPr/>
        </p:nvPicPr>
        <p:blipFill>
          <a:blip r:embed="rId3" cstate="print"/>
          <a:stretch>
            <a:fillRect/>
          </a:stretch>
        </p:blipFill>
        <p:spPr>
          <a:xfrm>
            <a:off x="3475991" y="125730"/>
            <a:ext cx="6865619" cy="1045130"/>
          </a:xfrm>
          <a:prstGeom prst="rect">
            <a:avLst/>
          </a:prstGeom>
        </p:spPr>
      </p:pic>
      <p:pic>
        <p:nvPicPr>
          <p:cNvPr id="18" name="bg object 18"/>
          <p:cNvPicPr/>
          <p:nvPr/>
        </p:nvPicPr>
        <p:blipFill>
          <a:blip r:embed="rId4" cstate="print"/>
          <a:stretch>
            <a:fillRect/>
          </a:stretch>
        </p:blipFill>
        <p:spPr>
          <a:xfrm>
            <a:off x="3659505" y="251408"/>
            <a:ext cx="6288159" cy="506849"/>
          </a:xfrm>
          <a:prstGeom prst="rect">
            <a:avLst/>
          </a:prstGeom>
        </p:spPr>
      </p:pic>
      <p:sp>
        <p:nvSpPr>
          <p:cNvPr id="19" name="bg object 19"/>
          <p:cNvSpPr/>
          <p:nvPr/>
        </p:nvSpPr>
        <p:spPr>
          <a:xfrm>
            <a:off x="3735070" y="290751"/>
            <a:ext cx="614290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4523105" y="282840"/>
            <a:ext cx="4636524"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262747" y="881554"/>
            <a:ext cx="3473591" cy="353943"/>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853350" y="1409150"/>
            <a:ext cx="12293651" cy="300082"/>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4697984" y="7228332"/>
            <a:ext cx="4421632"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90880" y="7228332"/>
            <a:ext cx="3178048"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9/30/2026</a:t>
            </a:fld>
            <a:endParaRPr lang="en-US"/>
          </a:p>
        </p:txBody>
      </p:sp>
      <p:sp>
        <p:nvSpPr>
          <p:cNvPr id="6" name="Holder 6"/>
          <p:cNvSpPr>
            <a:spLocks noGrp="1"/>
          </p:cNvSpPr>
          <p:nvPr>
            <p:ph type="sldNum" sz="quarter" idx="7"/>
          </p:nvPr>
        </p:nvSpPr>
        <p:spPr>
          <a:xfrm>
            <a:off x="9948672" y="7228332"/>
            <a:ext cx="3178048"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8.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573569" y="211047"/>
            <a:ext cx="4610910" cy="628649"/>
          </a:xfrm>
          <a:prstGeom prst="rect">
            <a:avLst/>
          </a:prstGeom>
        </p:spPr>
      </p:pic>
      <p:sp>
        <p:nvSpPr>
          <p:cNvPr id="3" name="object 3"/>
          <p:cNvSpPr txBox="1">
            <a:spLocks noGrp="1"/>
          </p:cNvSpPr>
          <p:nvPr>
            <p:ph type="title"/>
          </p:nvPr>
        </p:nvSpPr>
        <p:spPr>
          <a:xfrm>
            <a:off x="3145225" y="1197216"/>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Database Management Systems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 (Review I &amp; II)</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2533094" y="2514600"/>
            <a:ext cx="8751412" cy="3976730"/>
          </a:xfrm>
          <a:prstGeom prst="rect">
            <a:avLst/>
          </a:prstGeom>
        </p:spPr>
        <p:txBody>
          <a:bodyPr vert="horz" wrap="square" lIns="0" tIns="16510" rIns="0" bIns="0" rtlCol="0">
            <a:spAutoFit/>
          </a:bodyPr>
          <a:lstStyle/>
          <a:p>
            <a:pPr algn="ctr">
              <a:spcBef>
                <a:spcPts val="130"/>
              </a:spcBef>
            </a:pPr>
            <a:r>
              <a:rPr lang="en-IN" dirty="0"/>
              <a:t>LIBRARY MANAGEMENT SYSTEM</a:t>
            </a:r>
          </a:p>
          <a:p>
            <a:pPr algn="ctr">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Y. Renuka Lahari (25B11AIC88)</a:t>
            </a:r>
          </a:p>
          <a:p>
            <a:pPr algn="ctr">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CH. Lakshmi Narasimha (25B11AI231)</a:t>
            </a:r>
          </a:p>
          <a:p>
            <a:pPr algn="ctr">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K. Saranya (25B11AI458)</a:t>
            </a:r>
          </a:p>
          <a:p>
            <a:pPr algn="ctr">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CH. Hariswar (25B11AI227)</a:t>
            </a:r>
          </a:p>
          <a:p>
            <a:pPr marL="3810" algn="ctr">
              <a:spcBef>
                <a:spcPts val="750"/>
              </a:spcBef>
            </a:pPr>
            <a:endParaRPr lang="en-IN" sz="1650" spc="-10" dirty="0">
              <a:latin typeface="Times New Roman" panose="02020603050405020304" pitchFamily="18" charset="0"/>
              <a:cs typeface="Times New Roman" panose="02020603050405020304" pitchFamily="18" charset="0"/>
            </a:endParaRPr>
          </a:p>
          <a:p>
            <a:pPr marL="3810" algn="ctr">
              <a:spcBef>
                <a:spcPts val="750"/>
              </a:spcBef>
            </a:pPr>
            <a:endParaRPr lang="en-IN" sz="1650" spc="-10" dirty="0">
              <a:latin typeface="Times New Roman" panose="02020603050405020304" pitchFamily="18" charset="0"/>
              <a:cs typeface="Times New Roman" panose="02020603050405020304" pitchFamily="18" charset="0"/>
            </a:endParaRPr>
          </a:p>
          <a:p>
            <a:pPr marL="1270" algn="ctr">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a:t>
            </a:r>
            <a:r>
              <a:rPr lang="en-IN" sz="2200" dirty="0">
                <a:solidFill>
                  <a:srgbClr val="943735"/>
                </a:solidFill>
                <a:latin typeface="Times New Roman" panose="02020603050405020304" pitchFamily="18" charset="0"/>
                <a:cs typeface="Times New Roman" panose="02020603050405020304" pitchFamily="18" charset="0"/>
              </a:rPr>
              <a:t>Artificial Intelligence &amp; Machine Learning</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170350" y="204311"/>
            <a:ext cx="1163002" cy="424338"/>
          </a:xfrm>
          <a:prstGeom prst="rect">
            <a:avLst/>
          </a:prstGeom>
        </p:spPr>
      </p:pic>
      <p:grpSp>
        <p:nvGrpSpPr>
          <p:cNvPr id="5" name="object 3"/>
          <p:cNvGrpSpPr/>
          <p:nvPr/>
        </p:nvGrpSpPr>
        <p:grpSpPr>
          <a:xfrm>
            <a:off x="3708402" y="33671"/>
            <a:ext cx="6172198" cy="1198311"/>
            <a:chOff x="2064886" y="47148"/>
            <a:chExt cx="590594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064886" y="282892"/>
              <a:ext cx="5905944"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5484143" y="286093"/>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
        <p:nvSpPr>
          <p:cNvPr id="11" name="TextBox 10">
            <a:extLst>
              <a:ext uri="{FF2B5EF4-FFF2-40B4-BE49-F238E27FC236}">
                <a16:creationId xmlns:a16="http://schemas.microsoft.com/office/drawing/2014/main" id="{59CEAF0E-40CF-6B99-F37D-930B679CD994}"/>
              </a:ext>
            </a:extLst>
          </p:cNvPr>
          <p:cNvSpPr txBox="1"/>
          <p:nvPr/>
        </p:nvSpPr>
        <p:spPr>
          <a:xfrm>
            <a:off x="6451600" y="1621881"/>
            <a:ext cx="4343400" cy="3693319"/>
          </a:xfrm>
          <a:prstGeom prst="rect">
            <a:avLst/>
          </a:prstGeom>
          <a:noFill/>
        </p:spPr>
        <p:txBody>
          <a:bodyPr wrap="square">
            <a:spAutoFit/>
          </a:bodyPr>
          <a:lstStyle/>
          <a:p>
            <a:pPr marL="342900" indent="-342900">
              <a:buFont typeface="Arial" panose="020B0604020202020204" pitchFamily="34" charset="0"/>
              <a:buChar char="•"/>
            </a:pPr>
            <a:r>
              <a:rPr lang="en-IN" dirty="0"/>
              <a:t>Sample Data Insertion </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dirty="0"/>
              <a:t>DDL, DML &amp; DQL Operations</a:t>
            </a:r>
          </a:p>
          <a:p>
            <a:pPr lvl="0"/>
            <a:r>
              <a:rPr lang="en-IN" dirty="0"/>
              <a:t> </a:t>
            </a:r>
          </a:p>
          <a:p>
            <a:pPr marL="342900" indent="-342900">
              <a:buFont typeface="Arial" panose="020B0604020202020204" pitchFamily="34" charset="0"/>
              <a:buChar char="•"/>
            </a:pPr>
            <a:r>
              <a:rPr lang="en-IN" dirty="0"/>
              <a:t>CRUD &amp; SQL Queries </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dirty="0"/>
              <a:t>Data Integrity &amp; Validation</a:t>
            </a:r>
          </a:p>
          <a:p>
            <a:pPr lvl="0"/>
            <a:r>
              <a:rPr lang="en-IN" dirty="0"/>
              <a:t> </a:t>
            </a:r>
          </a:p>
          <a:p>
            <a:pPr marL="342900" indent="-342900">
              <a:buFont typeface="Arial" panose="020B0604020202020204" pitchFamily="34" charset="0"/>
              <a:buChar char="•"/>
            </a:pPr>
            <a:r>
              <a:rPr lang="en-IN" dirty="0"/>
              <a:t>Project Documentation </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dirty="0"/>
              <a:t>Demonstration &amp; Presentation</a:t>
            </a:r>
          </a:p>
          <a:p>
            <a:pPr lvl="0"/>
            <a:r>
              <a:rPr lang="en-IN" dirty="0"/>
              <a:t> </a:t>
            </a:r>
          </a:p>
          <a:p>
            <a:pPr marL="342900" indent="-342900">
              <a:buFont typeface="Arial" panose="020B0604020202020204" pitchFamily="34" charset="0"/>
              <a:buChar char="•"/>
            </a:pPr>
            <a:r>
              <a:rPr lang="en-IN" dirty="0"/>
              <a:t>Conclusion</a:t>
            </a:r>
          </a:p>
        </p:txBody>
      </p:sp>
      <p:sp>
        <p:nvSpPr>
          <p:cNvPr id="13" name="TextBox 12">
            <a:extLst>
              <a:ext uri="{FF2B5EF4-FFF2-40B4-BE49-F238E27FC236}">
                <a16:creationId xmlns:a16="http://schemas.microsoft.com/office/drawing/2014/main" id="{B108A065-9572-5FAD-949C-06AABB078C83}"/>
              </a:ext>
            </a:extLst>
          </p:cNvPr>
          <p:cNvSpPr txBox="1"/>
          <p:nvPr/>
        </p:nvSpPr>
        <p:spPr>
          <a:xfrm>
            <a:off x="2336800" y="1389090"/>
            <a:ext cx="3886200" cy="4801314"/>
          </a:xfrm>
          <a:prstGeom prst="rect">
            <a:avLst/>
          </a:prstGeom>
          <a:noFill/>
        </p:spPr>
        <p:txBody>
          <a:bodyPr wrap="square">
            <a:spAutoFit/>
          </a:bodyPr>
          <a:lstStyle/>
          <a:p>
            <a:pPr marL="342900" indent="-342900">
              <a:buFont typeface="Arial" panose="020B0604020202020204" pitchFamily="34" charset="0"/>
              <a:buChar char="•"/>
            </a:pPr>
            <a:r>
              <a:rPr lang="en-IN" dirty="0"/>
              <a:t>Abstract</a:t>
            </a:r>
          </a:p>
          <a:p>
            <a:pPr lvl="0"/>
            <a:r>
              <a:rPr lang="en-IN" dirty="0"/>
              <a:t> </a:t>
            </a:r>
          </a:p>
          <a:p>
            <a:pPr marL="342900" indent="-342900">
              <a:buFont typeface="Arial" panose="020B0604020202020204" pitchFamily="34" charset="0"/>
              <a:buChar char="•"/>
            </a:pPr>
            <a:r>
              <a:rPr lang="en-IN" dirty="0"/>
              <a:t>Project Title, Objectives &amp; Problem Statement </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dirty="0"/>
              <a:t>Entities &amp; Attributes </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dirty="0"/>
              <a:t>ER Diagram &amp; Relationships</a:t>
            </a:r>
          </a:p>
          <a:p>
            <a:pPr lvl="0"/>
            <a:r>
              <a:rPr lang="en-IN" dirty="0"/>
              <a:t> </a:t>
            </a:r>
          </a:p>
          <a:p>
            <a:pPr marL="342900" indent="-342900">
              <a:buFont typeface="Arial" panose="020B0604020202020204" pitchFamily="34" charset="0"/>
              <a:buChar char="•"/>
            </a:pPr>
            <a:r>
              <a:rPr lang="en-IN" dirty="0"/>
              <a:t>Relational Database Schema</a:t>
            </a:r>
          </a:p>
          <a:p>
            <a:pPr lvl="0"/>
            <a:r>
              <a:rPr lang="en-IN" dirty="0"/>
              <a:t> </a:t>
            </a:r>
          </a:p>
          <a:p>
            <a:pPr marL="342900" indent="-342900">
              <a:buFont typeface="Arial" panose="020B0604020202020204" pitchFamily="34" charset="0"/>
              <a:buChar char="•"/>
            </a:pPr>
            <a:r>
              <a:rPr lang="en-IN" dirty="0"/>
              <a:t>Primary &amp; Foreign Keys </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dirty="0"/>
              <a:t>GitHub Repository &amp; Team Responsibilities </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dirty="0"/>
              <a:t>Database Creation &amp; Constraints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a:extLst>
              <a:ext uri="{FF2B5EF4-FFF2-40B4-BE49-F238E27FC236}">
                <a16:creationId xmlns:a16="http://schemas.microsoft.com/office/drawing/2014/main" id="{45DF1864-F376-F098-54DF-632ADCD10909}"/>
              </a:ext>
            </a:extLst>
          </p:cNvPr>
          <p:cNvGrpSpPr/>
          <p:nvPr/>
        </p:nvGrpSpPr>
        <p:grpSpPr>
          <a:xfrm>
            <a:off x="4546600" y="85009"/>
            <a:ext cx="5103904" cy="1198311"/>
            <a:chOff x="2648188" y="47148"/>
            <a:chExt cx="5103904" cy="1198311"/>
          </a:xfrm>
        </p:grpSpPr>
        <p:pic>
          <p:nvPicPr>
            <p:cNvPr id="4" name="object 4">
              <a:extLst>
                <a:ext uri="{FF2B5EF4-FFF2-40B4-BE49-F238E27FC236}">
                  <a16:creationId xmlns:a16="http://schemas.microsoft.com/office/drawing/2014/main" id="{FCC3C124-92B9-32D1-E0B3-0F57ABB71FFB}"/>
                </a:ext>
              </a:extLst>
            </p:cNvPr>
            <p:cNvPicPr/>
            <p:nvPr/>
          </p:nvPicPr>
          <p:blipFill>
            <a:blip r:embed="rId2"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7BDD1ED1-A389-86E7-7CFD-7B339B0D36BE}"/>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E35BB633-80F5-997E-810C-16F569D85E85}"/>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AD15DAA4-F114-ADBE-DAB1-B3A4AA93C73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IN" sz="2800" dirty="0">
                  <a:solidFill>
                    <a:schemeClr val="bg1"/>
                  </a:solidFill>
                </a:rPr>
                <a:t>               Abstract </a:t>
              </a:r>
              <a:endParaRPr sz="2800" dirty="0">
                <a:solidFill>
                  <a:schemeClr val="bg1"/>
                </a:solidFill>
              </a:endParaRPr>
            </a:p>
          </p:txBody>
        </p:sp>
      </p:grpSp>
      <p:sp>
        <p:nvSpPr>
          <p:cNvPr id="19" name="TextBox 18">
            <a:extLst>
              <a:ext uri="{FF2B5EF4-FFF2-40B4-BE49-F238E27FC236}">
                <a16:creationId xmlns:a16="http://schemas.microsoft.com/office/drawing/2014/main" id="{EDD02104-5E30-414E-53A9-A75E684C44F8}"/>
              </a:ext>
            </a:extLst>
          </p:cNvPr>
          <p:cNvSpPr txBox="1"/>
          <p:nvPr/>
        </p:nvSpPr>
        <p:spPr>
          <a:xfrm>
            <a:off x="1193800" y="1440430"/>
            <a:ext cx="11430000" cy="3785652"/>
          </a:xfrm>
          <a:prstGeom prst="rect">
            <a:avLst/>
          </a:prstGeom>
          <a:noFill/>
        </p:spPr>
        <p:txBody>
          <a:bodyPr wrap="square">
            <a:spAutoFit/>
          </a:bodyPr>
          <a:lstStyle/>
          <a:p>
            <a:pPr algn="just">
              <a:buNone/>
            </a:pPr>
            <a:r>
              <a:rPr lang="en-IN" sz="2000" dirty="0"/>
              <a:t>The </a:t>
            </a:r>
            <a:r>
              <a:rPr lang="en-IN" sz="2000" b="1" dirty="0"/>
              <a:t>Library Management System </a:t>
            </a:r>
            <a:r>
              <a:rPr lang="en-IN" sz="2000" dirty="0"/>
              <a:t>is a relational database project developed to efficiently manage and organize library operations. The system maintains information about books, authors, publishers, members, loans, and fines using well-defined entities and relationships. It provides a structured database schema with primary and foreign keys to connect related records and maintain data integrity. </a:t>
            </a:r>
          </a:p>
          <a:p>
            <a:pPr algn="just">
              <a:buNone/>
            </a:pPr>
            <a:endParaRPr lang="en-IN" sz="2000" dirty="0"/>
          </a:p>
          <a:p>
            <a:pPr algn="just">
              <a:buNone/>
            </a:pPr>
            <a:r>
              <a:rPr lang="en-IN" sz="2000" dirty="0"/>
              <a:t>SQL operations such as DDL, DML, DQL, CRUD operations, joins, and views are implemented to create, modify, retrieve, and manage library data. Various constraints, including PRIMARY KEY, FOREIGN KEY, NOT NULL, UNIQUE, CHECK, and DEFAULT, are used to ensure accurate and consistent data. The project provides an organized approach to library record management and demonstrates important database concepts such as ER </a:t>
            </a:r>
            <a:r>
              <a:rPr lang="en-IN" sz="2000" dirty="0" err="1"/>
              <a:t>modeling</a:t>
            </a:r>
            <a:r>
              <a:rPr lang="en-IN" sz="2000" dirty="0"/>
              <a:t>, relational schema design, normalization up to 3NF, and efficient data retrieval.</a:t>
            </a:r>
          </a:p>
        </p:txBody>
      </p:sp>
    </p:spTree>
    <p:extLst>
      <p:ext uri="{BB962C8B-B14F-4D97-AF65-F5344CB8AC3E}">
        <p14:creationId xmlns:p14="http://schemas.microsoft.com/office/powerpoint/2010/main" val="2840101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4546600" y="85009"/>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5834552" y="344897"/>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170350" y="204311"/>
            <a:ext cx="1163002" cy="424338"/>
          </a:xfrm>
          <a:prstGeom prst="rect">
            <a:avLst/>
          </a:prstGeom>
        </p:spPr>
      </p:pic>
      <p:sp>
        <p:nvSpPr>
          <p:cNvPr id="3" name="TextBox 2">
            <a:extLst>
              <a:ext uri="{FF2B5EF4-FFF2-40B4-BE49-F238E27FC236}">
                <a16:creationId xmlns:a16="http://schemas.microsoft.com/office/drawing/2014/main" id="{6BFB1E2B-9C79-3139-2E32-59E56E1129E4}"/>
              </a:ext>
            </a:extLst>
          </p:cNvPr>
          <p:cNvSpPr txBox="1"/>
          <p:nvPr/>
        </p:nvSpPr>
        <p:spPr>
          <a:xfrm>
            <a:off x="2565400" y="1063863"/>
            <a:ext cx="8534400" cy="6186309"/>
          </a:xfrm>
          <a:prstGeom prst="rect">
            <a:avLst/>
          </a:prstGeom>
          <a:noFill/>
        </p:spPr>
        <p:txBody>
          <a:bodyPr wrap="square">
            <a:spAutoFit/>
          </a:bodyPr>
          <a:lstStyle/>
          <a:p>
            <a:pPr algn="just"/>
            <a:r>
              <a:rPr lang="en-IN" b="1" dirty="0"/>
              <a:t>Project Title :</a:t>
            </a:r>
          </a:p>
          <a:p>
            <a:pPr algn="just"/>
            <a:r>
              <a:rPr lang="en-IN" dirty="0"/>
              <a:t>Library Management System</a:t>
            </a:r>
          </a:p>
          <a:p>
            <a:pPr algn="just"/>
            <a:endParaRPr lang="en-IN" dirty="0"/>
          </a:p>
          <a:p>
            <a:pPr algn="just"/>
            <a:r>
              <a:rPr lang="en-IN" b="1" dirty="0"/>
              <a:t>Problem Statement :</a:t>
            </a:r>
          </a:p>
          <a:p>
            <a:pPr algn="just"/>
            <a:r>
              <a:rPr lang="en-IN" dirty="0"/>
              <a:t>Managing books, members, authors, publishers, loans, and fines manually can lead to data duplication, inconsistency, and difficulty in retrieving information.</a:t>
            </a:r>
          </a:p>
          <a:p>
            <a:pPr algn="just"/>
            <a:r>
              <a:rPr lang="en-IN" dirty="0"/>
              <a:t>The proposed system provides a structured relational database to efficiently manage library-related information.</a:t>
            </a:r>
          </a:p>
          <a:p>
            <a:pPr algn="just"/>
            <a:endParaRPr lang="en-IN" dirty="0"/>
          </a:p>
          <a:p>
            <a:pPr algn="just"/>
            <a:r>
              <a:rPr lang="en-IN" b="1" dirty="0"/>
              <a:t>Objectives :</a:t>
            </a:r>
          </a:p>
          <a:p>
            <a:pPr lvl="0" algn="just"/>
            <a:r>
              <a:rPr lang="en-IN" dirty="0"/>
              <a:t>1.To manage book information. </a:t>
            </a:r>
          </a:p>
          <a:p>
            <a:pPr lvl="0" algn="just"/>
            <a:r>
              <a:rPr lang="en-IN" dirty="0"/>
              <a:t>2.To maintain author and publisher details. </a:t>
            </a:r>
          </a:p>
          <a:p>
            <a:pPr lvl="0" algn="just"/>
            <a:r>
              <a:rPr lang="en-IN" dirty="0"/>
              <a:t>3.To manage member information. </a:t>
            </a:r>
          </a:p>
          <a:p>
            <a:pPr lvl="0" algn="just"/>
            <a:r>
              <a:rPr lang="en-IN" dirty="0"/>
              <a:t>4.To record and track book loans. </a:t>
            </a:r>
          </a:p>
          <a:p>
            <a:pPr lvl="0" algn="just"/>
            <a:r>
              <a:rPr lang="en-IN" dirty="0"/>
              <a:t>5.To manage fine information. </a:t>
            </a:r>
          </a:p>
          <a:p>
            <a:pPr lvl="0" algn="just"/>
            <a:r>
              <a:rPr lang="en-IN" dirty="0"/>
              <a:t>6.To maintain relationships between different entities. </a:t>
            </a:r>
          </a:p>
          <a:p>
            <a:pPr lvl="0" algn="just"/>
            <a:r>
              <a:rPr lang="en-IN" dirty="0"/>
              <a:t>7.To ensure data integrity using database constraints. </a:t>
            </a:r>
          </a:p>
          <a:p>
            <a:pPr lvl="0" algn="just"/>
            <a:r>
              <a:rPr lang="en-IN" dirty="0"/>
              <a:t>8.To perform SQL operations for retrieving and managing data. </a:t>
            </a:r>
          </a:p>
          <a:p>
            <a:pPr algn="just"/>
            <a:r>
              <a:rPr lang="en-IN" dirty="0"/>
              <a:t>9.The project overview in the reference document describes the Library  Management System as managing books, members, librarians, loans, reservations, and fines.</a:t>
            </a:r>
          </a:p>
          <a:p>
            <a:pPr>
              <a:buNone/>
            </a:pPr>
            <a:endParaRPr lang="en-IN" dirty="0"/>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27A3C-9BEC-C61B-FC8D-3B949CD89026}"/>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15F0E8CC-BDB8-7C3E-7C5E-012FD1252950}"/>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DBC28A04-FC65-6F36-8766-2B93E376E261}"/>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6F9D794-31EA-8ABA-A5E3-D49E7DEF13C2}"/>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E0767A3E-73A4-9967-916C-59851FE931A3}"/>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5C64E3F9-2AFD-ACC7-6183-250AF43BDF58}"/>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01E94C25-6779-8458-E95E-F4782347F2B3}"/>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D4973351-D6E2-D3B8-C7AF-9344AB18D3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50DE1838-629A-37A8-DB28-E5CABD39B264}"/>
              </a:ext>
            </a:extLst>
          </p:cNvPr>
          <p:cNvSpPr txBox="1"/>
          <p:nvPr/>
        </p:nvSpPr>
        <p:spPr>
          <a:xfrm>
            <a:off x="5384800" y="321325"/>
            <a:ext cx="57150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ENTITIES &amp; ATTRIBUTES</a:t>
            </a:r>
          </a:p>
        </p:txBody>
      </p:sp>
      <p:graphicFrame>
        <p:nvGraphicFramePr>
          <p:cNvPr id="8" name="Table 7">
            <a:extLst>
              <a:ext uri="{FF2B5EF4-FFF2-40B4-BE49-F238E27FC236}">
                <a16:creationId xmlns:a16="http://schemas.microsoft.com/office/drawing/2014/main" id="{AA156677-BE6A-B2B8-668C-4F7FDEE01967}"/>
              </a:ext>
            </a:extLst>
          </p:cNvPr>
          <p:cNvGraphicFramePr>
            <a:graphicFrameLocks noGrp="1"/>
          </p:cNvGraphicFramePr>
          <p:nvPr>
            <p:extLst>
              <p:ext uri="{D42A27DB-BD31-4B8C-83A1-F6EECF244321}">
                <p14:modId xmlns:p14="http://schemas.microsoft.com/office/powerpoint/2010/main" val="1459498000"/>
              </p:ext>
            </p:extLst>
          </p:nvPr>
        </p:nvGraphicFramePr>
        <p:xfrm>
          <a:off x="2565400" y="1040290"/>
          <a:ext cx="8839200" cy="6274908"/>
        </p:xfrm>
        <a:graphic>
          <a:graphicData uri="http://schemas.openxmlformats.org/drawingml/2006/table">
            <a:tbl>
              <a:tblPr firstRow="1" bandRow="1">
                <a:tableStyleId>{5C22544A-7EE6-4342-B048-85BDC9FD1C3A}</a:tableStyleId>
              </a:tblPr>
              <a:tblGrid>
                <a:gridCol w="2946400">
                  <a:extLst>
                    <a:ext uri="{9D8B030D-6E8A-4147-A177-3AD203B41FA5}">
                      <a16:colId xmlns:a16="http://schemas.microsoft.com/office/drawing/2014/main" val="3114108726"/>
                    </a:ext>
                  </a:extLst>
                </a:gridCol>
                <a:gridCol w="2946400">
                  <a:extLst>
                    <a:ext uri="{9D8B030D-6E8A-4147-A177-3AD203B41FA5}">
                      <a16:colId xmlns:a16="http://schemas.microsoft.com/office/drawing/2014/main" val="1064632292"/>
                    </a:ext>
                  </a:extLst>
                </a:gridCol>
                <a:gridCol w="2946400">
                  <a:extLst>
                    <a:ext uri="{9D8B030D-6E8A-4147-A177-3AD203B41FA5}">
                      <a16:colId xmlns:a16="http://schemas.microsoft.com/office/drawing/2014/main" val="1121537581"/>
                    </a:ext>
                  </a:extLst>
                </a:gridCol>
              </a:tblGrid>
              <a:tr h="382363">
                <a:tc>
                  <a:txBody>
                    <a:bodyPr/>
                    <a:lstStyle/>
                    <a:p>
                      <a:pPr>
                        <a:buNone/>
                      </a:pPr>
                      <a:r>
                        <a:rPr lang="en-IN" b="1" dirty="0"/>
                        <a:t>Entity</a:t>
                      </a:r>
                      <a:endParaRPr lang="en-IN" dirty="0"/>
                    </a:p>
                  </a:txBody>
                  <a:tcPr anchor="ctr"/>
                </a:tc>
                <a:tc>
                  <a:txBody>
                    <a:bodyPr/>
                    <a:lstStyle/>
                    <a:p>
                      <a:pPr>
                        <a:buNone/>
                      </a:pPr>
                      <a:r>
                        <a:rPr lang="en-IN" b="1"/>
                        <a:t>Attributes</a:t>
                      </a:r>
                      <a:endParaRPr lang="en-IN"/>
                    </a:p>
                  </a:txBody>
                  <a:tcPr anchor="ctr"/>
                </a:tc>
                <a:tc>
                  <a:txBody>
                    <a:bodyPr/>
                    <a:lstStyle/>
                    <a:p>
                      <a:pPr>
                        <a:buNone/>
                      </a:pPr>
                      <a:r>
                        <a:rPr lang="en-IN" b="1"/>
                        <a:t>Primary Key (PK)</a:t>
                      </a:r>
                      <a:endParaRPr lang="en-IN"/>
                    </a:p>
                  </a:txBody>
                  <a:tcPr anchor="ctr"/>
                </a:tc>
                <a:extLst>
                  <a:ext uri="{0D108BD9-81ED-4DB2-BD59-A6C34878D82A}">
                    <a16:rowId xmlns:a16="http://schemas.microsoft.com/office/drawing/2014/main" val="2454727859"/>
                  </a:ext>
                </a:extLst>
              </a:tr>
              <a:tr h="918364">
                <a:tc>
                  <a:txBody>
                    <a:bodyPr/>
                    <a:lstStyle/>
                    <a:p>
                      <a:pPr>
                        <a:buNone/>
                      </a:pPr>
                      <a:r>
                        <a:rPr lang="en-IN" b="1" dirty="0"/>
                        <a:t>Book</a:t>
                      </a:r>
                      <a:endParaRPr lang="en-IN" dirty="0"/>
                    </a:p>
                  </a:txBody>
                  <a:tcPr anchor="ctr"/>
                </a:tc>
                <a:tc>
                  <a:txBody>
                    <a:bodyPr/>
                    <a:lstStyle/>
                    <a:p>
                      <a:pPr>
                        <a:buNone/>
                      </a:pPr>
                      <a:r>
                        <a:rPr lang="en-IN"/>
                        <a:t>title, isbn, total_copies, available_copies, genre, publication_year</a:t>
                      </a:r>
                    </a:p>
                  </a:txBody>
                  <a:tcPr anchor="ctr"/>
                </a:tc>
                <a:tc>
                  <a:txBody>
                    <a:bodyPr/>
                    <a:lstStyle/>
                    <a:p>
                      <a:pPr>
                        <a:buNone/>
                      </a:pPr>
                      <a:r>
                        <a:rPr lang="en-IN" b="1"/>
                        <a:t>book_id</a:t>
                      </a:r>
                      <a:endParaRPr lang="en-IN"/>
                    </a:p>
                  </a:txBody>
                  <a:tcPr anchor="ctr"/>
                </a:tc>
                <a:extLst>
                  <a:ext uri="{0D108BD9-81ED-4DB2-BD59-A6C34878D82A}">
                    <a16:rowId xmlns:a16="http://schemas.microsoft.com/office/drawing/2014/main" val="1215026161"/>
                  </a:ext>
                </a:extLst>
              </a:tr>
              <a:tr h="642854">
                <a:tc>
                  <a:txBody>
                    <a:bodyPr/>
                    <a:lstStyle/>
                    <a:p>
                      <a:pPr>
                        <a:buNone/>
                      </a:pPr>
                      <a:r>
                        <a:rPr lang="en-IN" b="1"/>
                        <a:t>Author</a:t>
                      </a:r>
                      <a:endParaRPr lang="en-IN"/>
                    </a:p>
                  </a:txBody>
                  <a:tcPr anchor="ctr"/>
                </a:tc>
                <a:tc>
                  <a:txBody>
                    <a:bodyPr/>
                    <a:lstStyle/>
                    <a:p>
                      <a:pPr>
                        <a:buNone/>
                      </a:pPr>
                      <a:r>
                        <a:rPr lang="en-IN"/>
                        <a:t>first_name, last_name, nationality</a:t>
                      </a:r>
                    </a:p>
                  </a:txBody>
                  <a:tcPr anchor="ctr"/>
                </a:tc>
                <a:tc>
                  <a:txBody>
                    <a:bodyPr/>
                    <a:lstStyle/>
                    <a:p>
                      <a:pPr>
                        <a:buNone/>
                      </a:pPr>
                      <a:r>
                        <a:rPr lang="en-IN" b="1"/>
                        <a:t>author_id</a:t>
                      </a:r>
                      <a:endParaRPr lang="en-IN"/>
                    </a:p>
                  </a:txBody>
                  <a:tcPr anchor="ctr"/>
                </a:tc>
                <a:extLst>
                  <a:ext uri="{0D108BD9-81ED-4DB2-BD59-A6C34878D82A}">
                    <a16:rowId xmlns:a16="http://schemas.microsoft.com/office/drawing/2014/main" val="1380008885"/>
                  </a:ext>
                </a:extLst>
              </a:tr>
              <a:tr h="642854">
                <a:tc>
                  <a:txBody>
                    <a:bodyPr/>
                    <a:lstStyle/>
                    <a:p>
                      <a:pPr>
                        <a:buNone/>
                      </a:pPr>
                      <a:r>
                        <a:rPr lang="en-IN" b="1"/>
                        <a:t>Publisher</a:t>
                      </a:r>
                      <a:endParaRPr lang="en-IN"/>
                    </a:p>
                  </a:txBody>
                  <a:tcPr anchor="ctr"/>
                </a:tc>
                <a:tc>
                  <a:txBody>
                    <a:bodyPr/>
                    <a:lstStyle/>
                    <a:p>
                      <a:pPr>
                        <a:buNone/>
                      </a:pPr>
                      <a:r>
                        <a:rPr lang="en-IN"/>
                        <a:t>publisher_name, country, website</a:t>
                      </a:r>
                    </a:p>
                  </a:txBody>
                  <a:tcPr anchor="ctr"/>
                </a:tc>
                <a:tc>
                  <a:txBody>
                    <a:bodyPr/>
                    <a:lstStyle/>
                    <a:p>
                      <a:pPr>
                        <a:buNone/>
                      </a:pPr>
                      <a:r>
                        <a:rPr lang="en-IN" b="1"/>
                        <a:t>publisher_id</a:t>
                      </a:r>
                      <a:endParaRPr lang="en-IN"/>
                    </a:p>
                  </a:txBody>
                  <a:tcPr anchor="ctr"/>
                </a:tc>
                <a:extLst>
                  <a:ext uri="{0D108BD9-81ED-4DB2-BD59-A6C34878D82A}">
                    <a16:rowId xmlns:a16="http://schemas.microsoft.com/office/drawing/2014/main" val="1197876128"/>
                  </a:ext>
                </a:extLst>
              </a:tr>
              <a:tr h="1193873">
                <a:tc>
                  <a:txBody>
                    <a:bodyPr/>
                    <a:lstStyle/>
                    <a:p>
                      <a:pPr>
                        <a:buNone/>
                      </a:pPr>
                      <a:r>
                        <a:rPr lang="en-IN" b="1" dirty="0"/>
                        <a:t>Member</a:t>
                      </a:r>
                      <a:endParaRPr lang="en-IN" dirty="0"/>
                    </a:p>
                  </a:txBody>
                  <a:tcPr anchor="ctr"/>
                </a:tc>
                <a:tc>
                  <a:txBody>
                    <a:bodyPr/>
                    <a:lstStyle/>
                    <a:p>
                      <a:pPr>
                        <a:buNone/>
                      </a:pPr>
                      <a:r>
                        <a:rPr lang="en-IN"/>
                        <a:t>first_name, last_name, email, membership_type, membership_date, membership_expiry</a:t>
                      </a:r>
                    </a:p>
                  </a:txBody>
                  <a:tcPr anchor="ctr"/>
                </a:tc>
                <a:tc>
                  <a:txBody>
                    <a:bodyPr/>
                    <a:lstStyle/>
                    <a:p>
                      <a:pPr>
                        <a:buNone/>
                      </a:pPr>
                      <a:r>
                        <a:rPr lang="en-IN" b="1"/>
                        <a:t>member_id</a:t>
                      </a:r>
                      <a:endParaRPr lang="en-IN"/>
                    </a:p>
                  </a:txBody>
                  <a:tcPr anchor="ctr"/>
                </a:tc>
                <a:extLst>
                  <a:ext uri="{0D108BD9-81ED-4DB2-BD59-A6C34878D82A}">
                    <a16:rowId xmlns:a16="http://schemas.microsoft.com/office/drawing/2014/main" val="1344374065"/>
                  </a:ext>
                </a:extLst>
              </a:tr>
              <a:tr h="1193873">
                <a:tc>
                  <a:txBody>
                    <a:bodyPr/>
                    <a:lstStyle/>
                    <a:p>
                      <a:pPr>
                        <a:buNone/>
                      </a:pPr>
                      <a:r>
                        <a:rPr lang="en-IN" b="1" dirty="0"/>
                        <a:t>Loan</a:t>
                      </a:r>
                      <a:endParaRPr lang="en-IN" dirty="0"/>
                    </a:p>
                  </a:txBody>
                  <a:tcPr anchor="ctr"/>
                </a:tc>
                <a:tc>
                  <a:txBody>
                    <a:bodyPr/>
                    <a:lstStyle/>
                    <a:p>
                      <a:pPr>
                        <a:buNone/>
                      </a:pPr>
                      <a:r>
                        <a:rPr lang="en-IN"/>
                        <a:t>book_id, member_id, loan_date, due_date, return_date, days_overdue, status</a:t>
                      </a:r>
                    </a:p>
                  </a:txBody>
                  <a:tcPr anchor="ctr"/>
                </a:tc>
                <a:tc>
                  <a:txBody>
                    <a:bodyPr/>
                    <a:lstStyle/>
                    <a:p>
                      <a:pPr>
                        <a:buNone/>
                      </a:pPr>
                      <a:r>
                        <a:rPr lang="en-IN" b="1"/>
                        <a:t>loan_id</a:t>
                      </a:r>
                      <a:endParaRPr lang="en-IN"/>
                    </a:p>
                  </a:txBody>
                  <a:tcPr anchor="ctr"/>
                </a:tc>
                <a:extLst>
                  <a:ext uri="{0D108BD9-81ED-4DB2-BD59-A6C34878D82A}">
                    <a16:rowId xmlns:a16="http://schemas.microsoft.com/office/drawing/2014/main" val="3491308493"/>
                  </a:ext>
                </a:extLst>
              </a:tr>
              <a:tr h="918364">
                <a:tc>
                  <a:txBody>
                    <a:bodyPr/>
                    <a:lstStyle/>
                    <a:p>
                      <a:pPr>
                        <a:buNone/>
                      </a:pPr>
                      <a:r>
                        <a:rPr lang="en-IN" b="1"/>
                        <a:t>Fine</a:t>
                      </a:r>
                      <a:endParaRPr lang="en-IN"/>
                    </a:p>
                  </a:txBody>
                  <a:tcPr anchor="ctr"/>
                </a:tc>
                <a:tc>
                  <a:txBody>
                    <a:bodyPr/>
                    <a:lstStyle/>
                    <a:p>
                      <a:pPr>
                        <a:buNone/>
                      </a:pPr>
                      <a:r>
                        <a:rPr lang="en-IN"/>
                        <a:t>loan_id, member_id, fine_amount, fine_date, payment_status</a:t>
                      </a:r>
                    </a:p>
                  </a:txBody>
                  <a:tcPr anchor="ctr"/>
                </a:tc>
                <a:tc>
                  <a:txBody>
                    <a:bodyPr/>
                    <a:lstStyle/>
                    <a:p>
                      <a:pPr>
                        <a:buNone/>
                      </a:pPr>
                      <a:r>
                        <a:rPr lang="en-IN" b="1"/>
                        <a:t>fine_id</a:t>
                      </a:r>
                      <a:endParaRPr lang="en-IN"/>
                    </a:p>
                  </a:txBody>
                  <a:tcPr anchor="ctr"/>
                </a:tc>
                <a:extLst>
                  <a:ext uri="{0D108BD9-81ED-4DB2-BD59-A6C34878D82A}">
                    <a16:rowId xmlns:a16="http://schemas.microsoft.com/office/drawing/2014/main" val="968831010"/>
                  </a:ext>
                </a:extLst>
              </a:tr>
              <a:tr h="382363">
                <a:tc>
                  <a:txBody>
                    <a:bodyPr/>
                    <a:lstStyle/>
                    <a:p>
                      <a:pPr>
                        <a:buNone/>
                      </a:pPr>
                      <a:r>
                        <a:rPr lang="en-IN" b="1"/>
                        <a:t>Book_Author</a:t>
                      </a:r>
                      <a:endParaRPr lang="en-IN"/>
                    </a:p>
                  </a:txBody>
                  <a:tcPr anchor="ctr"/>
                </a:tc>
                <a:tc>
                  <a:txBody>
                    <a:bodyPr/>
                    <a:lstStyle/>
                    <a:p>
                      <a:pPr>
                        <a:buNone/>
                      </a:pPr>
                      <a:r>
                        <a:rPr lang="en-IN"/>
                        <a:t>book_id, author_id</a:t>
                      </a:r>
                    </a:p>
                  </a:txBody>
                  <a:tcPr anchor="ctr"/>
                </a:tc>
                <a:tc>
                  <a:txBody>
                    <a:bodyPr/>
                    <a:lstStyle/>
                    <a:p>
                      <a:pPr>
                        <a:buNone/>
                      </a:pPr>
                      <a:r>
                        <a:rPr lang="en-IN" b="1" dirty="0" err="1"/>
                        <a:t>book_id</a:t>
                      </a:r>
                      <a:r>
                        <a:rPr lang="en-IN" b="1" dirty="0"/>
                        <a:t> + </a:t>
                      </a:r>
                      <a:r>
                        <a:rPr lang="en-IN" b="1" dirty="0" err="1"/>
                        <a:t>author_id</a:t>
                      </a:r>
                      <a:endParaRPr lang="en-IN" dirty="0"/>
                    </a:p>
                  </a:txBody>
                  <a:tcPr anchor="ctr"/>
                </a:tc>
                <a:extLst>
                  <a:ext uri="{0D108BD9-81ED-4DB2-BD59-A6C34878D82A}">
                    <a16:rowId xmlns:a16="http://schemas.microsoft.com/office/drawing/2014/main" val="2887438246"/>
                  </a:ext>
                </a:extLst>
              </a:tr>
            </a:tbl>
          </a:graphicData>
        </a:graphic>
      </p:graphicFrame>
    </p:spTree>
    <p:extLst>
      <p:ext uri="{BB962C8B-B14F-4D97-AF65-F5344CB8AC3E}">
        <p14:creationId xmlns:p14="http://schemas.microsoft.com/office/powerpoint/2010/main" val="1149973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FF62A-28CD-1AF0-FCC9-9795D99130CF}"/>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EA882BD3-FCF2-C56E-AAE2-C4D14D585E66}"/>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3CC86148-DFF8-3451-7947-2685EE95BD9F}"/>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A4DF9EE2-487D-D75F-149C-A5A989F91BE8}"/>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1618242D-8DDA-301B-EF8C-793435D7B312}"/>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8669F432-648C-72A6-EE1E-52C40A5BB684}"/>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1D43B590-5504-6B74-CBB0-60480CB4BBC8}"/>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82876794-728A-676B-5B3B-0E4A8320CD7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75FAEAFE-5DA8-E3CC-E08A-02ABAA5C5423}"/>
              </a:ext>
            </a:extLst>
          </p:cNvPr>
          <p:cNvSpPr txBox="1"/>
          <p:nvPr/>
        </p:nvSpPr>
        <p:spPr>
          <a:xfrm>
            <a:off x="4775200" y="304800"/>
            <a:ext cx="5029200" cy="400110"/>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ER DIAGRAM &amp; RELATIONSHIPS</a:t>
            </a:r>
          </a:p>
        </p:txBody>
      </p:sp>
      <p:pic>
        <p:nvPicPr>
          <p:cNvPr id="10" name="Picture 9">
            <a:extLst>
              <a:ext uri="{FF2B5EF4-FFF2-40B4-BE49-F238E27FC236}">
                <a16:creationId xmlns:a16="http://schemas.microsoft.com/office/drawing/2014/main" id="{3B94D0AE-43E1-C37D-0A3E-7CA86F94D92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13055" y="1143001"/>
            <a:ext cx="9525825" cy="5730737"/>
          </a:xfrm>
          <a:prstGeom prst="rect">
            <a:avLst/>
          </a:prstGeom>
        </p:spPr>
      </p:pic>
    </p:spTree>
    <p:extLst>
      <p:ext uri="{BB962C8B-B14F-4D97-AF65-F5344CB8AC3E}">
        <p14:creationId xmlns:p14="http://schemas.microsoft.com/office/powerpoint/2010/main" val="3283178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D1103-BED3-D0D1-2B32-DF462A49AD98}"/>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386A48A0-7630-F33A-9602-55A8C30FABC0}"/>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4D87CA1E-4756-F08E-63BD-75124D6360A1}"/>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631FFF4E-3585-C131-4111-19552BFBD0ED}"/>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23462C3B-779A-ECC8-E6A0-EBE10897D9C8}"/>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1C485986-3706-6533-B03D-5A8A8566EDEA}"/>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C06018CA-58C0-7E2C-3046-85D5E75FDF5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48EE4812-0FE8-8F6E-37C0-C1D8649E38B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C996B418-1692-861F-B2FC-D97A6A0DCECA}"/>
              </a:ext>
            </a:extLst>
          </p:cNvPr>
          <p:cNvSpPr txBox="1"/>
          <p:nvPr/>
        </p:nvSpPr>
        <p:spPr>
          <a:xfrm>
            <a:off x="4842982" y="321324"/>
            <a:ext cx="5494818" cy="400110"/>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RELATIONAL DATABASE SCHEMA</a:t>
            </a:r>
          </a:p>
        </p:txBody>
      </p:sp>
      <p:pic>
        <p:nvPicPr>
          <p:cNvPr id="8" name="Picture 7">
            <a:extLst>
              <a:ext uri="{FF2B5EF4-FFF2-40B4-BE49-F238E27FC236}">
                <a16:creationId xmlns:a16="http://schemas.microsoft.com/office/drawing/2014/main" id="{4BA23F07-0EEC-6804-4A7B-D5F53523ABE0}"/>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955800" y="1192626"/>
            <a:ext cx="9742147" cy="6494765"/>
          </a:xfrm>
          <a:prstGeom prst="rect">
            <a:avLst/>
          </a:prstGeom>
          <a:noFill/>
          <a:ln>
            <a:noFill/>
          </a:ln>
        </p:spPr>
      </p:pic>
    </p:spTree>
    <p:extLst>
      <p:ext uri="{BB962C8B-B14F-4D97-AF65-F5344CB8AC3E}">
        <p14:creationId xmlns:p14="http://schemas.microsoft.com/office/powerpoint/2010/main" val="1510185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PRIMARY &amp; FOREIGN KEYS</a:t>
            </a:r>
          </a:p>
        </p:txBody>
      </p:sp>
      <p:graphicFrame>
        <p:nvGraphicFramePr>
          <p:cNvPr id="8" name="Table 7">
            <a:extLst>
              <a:ext uri="{FF2B5EF4-FFF2-40B4-BE49-F238E27FC236}">
                <a16:creationId xmlns:a16="http://schemas.microsoft.com/office/drawing/2014/main" id="{03233F02-AE60-F0EB-7369-6551D5CBF28B}"/>
              </a:ext>
            </a:extLst>
          </p:cNvPr>
          <p:cNvGraphicFramePr>
            <a:graphicFrameLocks noGrp="1"/>
          </p:cNvGraphicFramePr>
          <p:nvPr>
            <p:extLst>
              <p:ext uri="{D42A27DB-BD31-4B8C-83A1-F6EECF244321}">
                <p14:modId xmlns:p14="http://schemas.microsoft.com/office/powerpoint/2010/main" val="2332637250"/>
              </p:ext>
            </p:extLst>
          </p:nvPr>
        </p:nvGraphicFramePr>
        <p:xfrm>
          <a:off x="2870200" y="1413604"/>
          <a:ext cx="8077200" cy="5484402"/>
        </p:xfrm>
        <a:graphic>
          <a:graphicData uri="http://schemas.openxmlformats.org/drawingml/2006/table">
            <a:tbl>
              <a:tblPr firstRow="1" bandRow="1">
                <a:tableStyleId>{7DF18680-E054-41AD-8BC1-D1AEF772440D}</a:tableStyleId>
              </a:tblPr>
              <a:tblGrid>
                <a:gridCol w="2133600">
                  <a:extLst>
                    <a:ext uri="{9D8B030D-6E8A-4147-A177-3AD203B41FA5}">
                      <a16:colId xmlns:a16="http://schemas.microsoft.com/office/drawing/2014/main" val="2598867522"/>
                    </a:ext>
                  </a:extLst>
                </a:gridCol>
                <a:gridCol w="1981200">
                  <a:extLst>
                    <a:ext uri="{9D8B030D-6E8A-4147-A177-3AD203B41FA5}">
                      <a16:colId xmlns:a16="http://schemas.microsoft.com/office/drawing/2014/main" val="666714672"/>
                    </a:ext>
                  </a:extLst>
                </a:gridCol>
                <a:gridCol w="1981200">
                  <a:extLst>
                    <a:ext uri="{9D8B030D-6E8A-4147-A177-3AD203B41FA5}">
                      <a16:colId xmlns:a16="http://schemas.microsoft.com/office/drawing/2014/main" val="188457700"/>
                    </a:ext>
                  </a:extLst>
                </a:gridCol>
                <a:gridCol w="1981200">
                  <a:extLst>
                    <a:ext uri="{9D8B030D-6E8A-4147-A177-3AD203B41FA5}">
                      <a16:colId xmlns:a16="http://schemas.microsoft.com/office/drawing/2014/main" val="754754108"/>
                    </a:ext>
                  </a:extLst>
                </a:gridCol>
              </a:tblGrid>
              <a:tr h="580764">
                <a:tc>
                  <a:txBody>
                    <a:bodyPr/>
                    <a:lstStyle/>
                    <a:p>
                      <a:pPr>
                        <a:buNone/>
                      </a:pPr>
                      <a:r>
                        <a:rPr lang="en-IN" dirty="0"/>
                        <a:t>Table Name</a:t>
                      </a:r>
                    </a:p>
                  </a:txBody>
                  <a:tcPr anchor="ctr"/>
                </a:tc>
                <a:tc>
                  <a:txBody>
                    <a:bodyPr/>
                    <a:lstStyle/>
                    <a:p>
                      <a:pPr>
                        <a:buNone/>
                      </a:pPr>
                      <a:r>
                        <a:rPr lang="en-IN"/>
                        <a:t>Primary Key (PK)</a:t>
                      </a:r>
                    </a:p>
                  </a:txBody>
                  <a:tcPr anchor="ctr"/>
                </a:tc>
                <a:tc>
                  <a:txBody>
                    <a:bodyPr/>
                    <a:lstStyle/>
                    <a:p>
                      <a:pPr>
                        <a:buNone/>
                      </a:pPr>
                      <a:r>
                        <a:rPr lang="en-IN"/>
                        <a:t>Foreign Keys (FK)</a:t>
                      </a:r>
                    </a:p>
                  </a:txBody>
                  <a:tcPr anchor="ctr"/>
                </a:tc>
                <a:tc>
                  <a:txBody>
                    <a:bodyPr/>
                    <a:lstStyle/>
                    <a:p>
                      <a:pPr>
                        <a:buNone/>
                      </a:pPr>
                      <a:r>
                        <a:rPr lang="en-IN" dirty="0"/>
                        <a:t>References</a:t>
                      </a:r>
                    </a:p>
                  </a:txBody>
                  <a:tcPr anchor="ctr"/>
                </a:tc>
                <a:extLst>
                  <a:ext uri="{0D108BD9-81ED-4DB2-BD59-A6C34878D82A}">
                    <a16:rowId xmlns:a16="http://schemas.microsoft.com/office/drawing/2014/main" val="4293763953"/>
                  </a:ext>
                </a:extLst>
              </a:tr>
              <a:tr h="580764">
                <a:tc>
                  <a:txBody>
                    <a:bodyPr/>
                    <a:lstStyle/>
                    <a:p>
                      <a:pPr>
                        <a:buNone/>
                      </a:pPr>
                      <a:r>
                        <a:rPr lang="en-IN"/>
                        <a:t>PUBLISHER</a:t>
                      </a:r>
                    </a:p>
                  </a:txBody>
                  <a:tcPr anchor="ctr"/>
                </a:tc>
                <a:tc>
                  <a:txBody>
                    <a:bodyPr/>
                    <a:lstStyle/>
                    <a:p>
                      <a:pPr>
                        <a:buNone/>
                      </a:pPr>
                      <a:r>
                        <a:rPr lang="en-IN"/>
                        <a:t>publisher_id</a:t>
                      </a:r>
                    </a:p>
                  </a:txBody>
                  <a:tcPr anchor="ctr"/>
                </a:tc>
                <a:tc>
                  <a:txBody>
                    <a:bodyPr/>
                    <a:lstStyle/>
                    <a:p>
                      <a:pPr>
                        <a:buNone/>
                      </a:pPr>
                      <a:r>
                        <a:rPr lang="en-IN"/>
                        <a:t>None</a:t>
                      </a:r>
                    </a:p>
                  </a:txBody>
                  <a:tcPr anchor="ctr"/>
                </a:tc>
                <a:tc>
                  <a:txBody>
                    <a:bodyPr/>
                    <a:lstStyle/>
                    <a:p>
                      <a:pPr>
                        <a:buNone/>
                      </a:pPr>
                      <a:r>
                        <a:rPr lang="en-IN"/>
                        <a:t>N/A</a:t>
                      </a:r>
                    </a:p>
                  </a:txBody>
                  <a:tcPr anchor="ctr"/>
                </a:tc>
                <a:extLst>
                  <a:ext uri="{0D108BD9-81ED-4DB2-BD59-A6C34878D82A}">
                    <a16:rowId xmlns:a16="http://schemas.microsoft.com/office/drawing/2014/main" val="963675007"/>
                  </a:ext>
                </a:extLst>
              </a:tr>
              <a:tr h="669040">
                <a:tc>
                  <a:txBody>
                    <a:bodyPr/>
                    <a:lstStyle/>
                    <a:p>
                      <a:pPr>
                        <a:buNone/>
                      </a:pPr>
                      <a:r>
                        <a:rPr lang="en-IN"/>
                        <a:t>BOOK</a:t>
                      </a:r>
                    </a:p>
                  </a:txBody>
                  <a:tcPr anchor="ctr"/>
                </a:tc>
                <a:tc>
                  <a:txBody>
                    <a:bodyPr/>
                    <a:lstStyle/>
                    <a:p>
                      <a:pPr>
                        <a:buNone/>
                      </a:pPr>
                      <a:r>
                        <a:rPr lang="en-IN"/>
                        <a:t>book_id</a:t>
                      </a:r>
                    </a:p>
                  </a:txBody>
                  <a:tcPr anchor="ctr"/>
                </a:tc>
                <a:tc>
                  <a:txBody>
                    <a:bodyPr/>
                    <a:lstStyle/>
                    <a:p>
                      <a:pPr>
                        <a:buNone/>
                      </a:pPr>
                      <a:r>
                        <a:rPr lang="en-IN"/>
                        <a:t>publisher_id</a:t>
                      </a:r>
                    </a:p>
                  </a:txBody>
                  <a:tcPr anchor="ctr"/>
                </a:tc>
                <a:tc>
                  <a:txBody>
                    <a:bodyPr/>
                    <a:lstStyle/>
                    <a:p>
                      <a:pPr>
                        <a:buNone/>
                      </a:pPr>
                      <a:r>
                        <a:rPr lang="en-IN"/>
                        <a:t>PUBLISHER(publisher_id)</a:t>
                      </a:r>
                    </a:p>
                  </a:txBody>
                  <a:tcPr anchor="ctr"/>
                </a:tc>
                <a:extLst>
                  <a:ext uri="{0D108BD9-81ED-4DB2-BD59-A6C34878D82A}">
                    <a16:rowId xmlns:a16="http://schemas.microsoft.com/office/drawing/2014/main" val="249780744"/>
                  </a:ext>
                </a:extLst>
              </a:tr>
              <a:tr h="580764">
                <a:tc>
                  <a:txBody>
                    <a:bodyPr/>
                    <a:lstStyle/>
                    <a:p>
                      <a:pPr>
                        <a:buNone/>
                      </a:pPr>
                      <a:r>
                        <a:rPr lang="en-IN"/>
                        <a:t>AUTHOR</a:t>
                      </a:r>
                    </a:p>
                  </a:txBody>
                  <a:tcPr anchor="ctr"/>
                </a:tc>
                <a:tc>
                  <a:txBody>
                    <a:bodyPr/>
                    <a:lstStyle/>
                    <a:p>
                      <a:pPr>
                        <a:buNone/>
                      </a:pPr>
                      <a:r>
                        <a:rPr lang="en-IN"/>
                        <a:t>author_id</a:t>
                      </a:r>
                    </a:p>
                  </a:txBody>
                  <a:tcPr anchor="ctr"/>
                </a:tc>
                <a:tc>
                  <a:txBody>
                    <a:bodyPr/>
                    <a:lstStyle/>
                    <a:p>
                      <a:pPr>
                        <a:buNone/>
                      </a:pPr>
                      <a:r>
                        <a:rPr lang="en-IN"/>
                        <a:t>None</a:t>
                      </a:r>
                    </a:p>
                  </a:txBody>
                  <a:tcPr anchor="ctr"/>
                </a:tc>
                <a:tc>
                  <a:txBody>
                    <a:bodyPr/>
                    <a:lstStyle/>
                    <a:p>
                      <a:pPr>
                        <a:buNone/>
                      </a:pPr>
                      <a:r>
                        <a:rPr lang="en-IN"/>
                        <a:t>N/A</a:t>
                      </a:r>
                    </a:p>
                  </a:txBody>
                  <a:tcPr anchor="ctr"/>
                </a:tc>
                <a:extLst>
                  <a:ext uri="{0D108BD9-81ED-4DB2-BD59-A6C34878D82A}">
                    <a16:rowId xmlns:a16="http://schemas.microsoft.com/office/drawing/2014/main" val="3465255727"/>
                  </a:ext>
                </a:extLst>
              </a:tr>
              <a:tr h="580764">
                <a:tc>
                  <a:txBody>
                    <a:bodyPr/>
                    <a:lstStyle/>
                    <a:p>
                      <a:pPr>
                        <a:buNone/>
                      </a:pPr>
                      <a:r>
                        <a:rPr lang="en-IN"/>
                        <a:t>BOOK_AUTHOR</a:t>
                      </a:r>
                    </a:p>
                  </a:txBody>
                  <a:tcPr anchor="ctr"/>
                </a:tc>
                <a:tc>
                  <a:txBody>
                    <a:bodyPr/>
                    <a:lstStyle/>
                    <a:p>
                      <a:pPr>
                        <a:buNone/>
                      </a:pPr>
                      <a:r>
                        <a:rPr lang="en-IN"/>
                        <a:t>book_id, author_id</a:t>
                      </a:r>
                    </a:p>
                  </a:txBody>
                  <a:tcPr anchor="ctr"/>
                </a:tc>
                <a:tc>
                  <a:txBody>
                    <a:bodyPr/>
                    <a:lstStyle/>
                    <a:p>
                      <a:pPr>
                        <a:buNone/>
                      </a:pPr>
                      <a:r>
                        <a:rPr lang="en-IN"/>
                        <a:t>book_id, author_id</a:t>
                      </a:r>
                    </a:p>
                  </a:txBody>
                  <a:tcPr anchor="ctr"/>
                </a:tc>
                <a:tc>
                  <a:txBody>
                    <a:bodyPr/>
                    <a:lstStyle/>
                    <a:p>
                      <a:pPr>
                        <a:buNone/>
                      </a:pPr>
                      <a:r>
                        <a:rPr lang="en-IN"/>
                        <a:t>BOOK, AUTHOR</a:t>
                      </a:r>
                    </a:p>
                  </a:txBody>
                  <a:tcPr anchor="ctr"/>
                </a:tc>
                <a:extLst>
                  <a:ext uri="{0D108BD9-81ED-4DB2-BD59-A6C34878D82A}">
                    <a16:rowId xmlns:a16="http://schemas.microsoft.com/office/drawing/2014/main" val="366725866"/>
                  </a:ext>
                </a:extLst>
              </a:tr>
              <a:tr h="580764">
                <a:tc>
                  <a:txBody>
                    <a:bodyPr/>
                    <a:lstStyle/>
                    <a:p>
                      <a:pPr>
                        <a:buNone/>
                      </a:pPr>
                      <a:r>
                        <a:rPr lang="en-IN"/>
                        <a:t>MEMBER</a:t>
                      </a:r>
                    </a:p>
                  </a:txBody>
                  <a:tcPr anchor="ctr"/>
                </a:tc>
                <a:tc>
                  <a:txBody>
                    <a:bodyPr/>
                    <a:lstStyle/>
                    <a:p>
                      <a:pPr>
                        <a:buNone/>
                      </a:pPr>
                      <a:r>
                        <a:rPr lang="en-IN"/>
                        <a:t>member_id</a:t>
                      </a:r>
                    </a:p>
                  </a:txBody>
                  <a:tcPr anchor="ctr"/>
                </a:tc>
                <a:tc>
                  <a:txBody>
                    <a:bodyPr/>
                    <a:lstStyle/>
                    <a:p>
                      <a:pPr>
                        <a:buNone/>
                      </a:pPr>
                      <a:r>
                        <a:rPr lang="en-IN"/>
                        <a:t>None</a:t>
                      </a:r>
                    </a:p>
                  </a:txBody>
                  <a:tcPr anchor="ctr"/>
                </a:tc>
                <a:tc>
                  <a:txBody>
                    <a:bodyPr/>
                    <a:lstStyle/>
                    <a:p>
                      <a:pPr>
                        <a:buNone/>
                      </a:pPr>
                      <a:r>
                        <a:rPr lang="en-IN"/>
                        <a:t>N/A</a:t>
                      </a:r>
                    </a:p>
                  </a:txBody>
                  <a:tcPr anchor="ctr"/>
                </a:tc>
                <a:extLst>
                  <a:ext uri="{0D108BD9-81ED-4DB2-BD59-A6C34878D82A}">
                    <a16:rowId xmlns:a16="http://schemas.microsoft.com/office/drawing/2014/main" val="1529289780"/>
                  </a:ext>
                </a:extLst>
              </a:tr>
              <a:tr h="955771">
                <a:tc>
                  <a:txBody>
                    <a:bodyPr/>
                    <a:lstStyle/>
                    <a:p>
                      <a:pPr>
                        <a:buNone/>
                      </a:pPr>
                      <a:r>
                        <a:rPr lang="en-IN"/>
                        <a:t>LOAN</a:t>
                      </a:r>
                    </a:p>
                  </a:txBody>
                  <a:tcPr anchor="ctr"/>
                </a:tc>
                <a:tc>
                  <a:txBody>
                    <a:bodyPr/>
                    <a:lstStyle/>
                    <a:p>
                      <a:pPr>
                        <a:buNone/>
                      </a:pPr>
                      <a:r>
                        <a:rPr lang="en-IN"/>
                        <a:t>loan_id</a:t>
                      </a:r>
                    </a:p>
                  </a:txBody>
                  <a:tcPr anchor="ctr"/>
                </a:tc>
                <a:tc>
                  <a:txBody>
                    <a:bodyPr/>
                    <a:lstStyle/>
                    <a:p>
                      <a:pPr>
                        <a:buNone/>
                      </a:pPr>
                      <a:r>
                        <a:rPr lang="en-IN"/>
                        <a:t>book_id, member_id</a:t>
                      </a:r>
                    </a:p>
                  </a:txBody>
                  <a:tcPr anchor="ctr"/>
                </a:tc>
                <a:tc>
                  <a:txBody>
                    <a:bodyPr/>
                    <a:lstStyle/>
                    <a:p>
                      <a:pPr>
                        <a:buNone/>
                      </a:pPr>
                      <a:r>
                        <a:rPr lang="en-IN"/>
                        <a:t>BOOK(book_id), MEMBER(member_id)</a:t>
                      </a:r>
                    </a:p>
                  </a:txBody>
                  <a:tcPr anchor="ctr"/>
                </a:tc>
                <a:extLst>
                  <a:ext uri="{0D108BD9-81ED-4DB2-BD59-A6C34878D82A}">
                    <a16:rowId xmlns:a16="http://schemas.microsoft.com/office/drawing/2014/main" val="1067400913"/>
                  </a:ext>
                </a:extLst>
              </a:tr>
              <a:tr h="955771">
                <a:tc>
                  <a:txBody>
                    <a:bodyPr/>
                    <a:lstStyle/>
                    <a:p>
                      <a:pPr>
                        <a:buNone/>
                      </a:pPr>
                      <a:r>
                        <a:rPr lang="en-IN"/>
                        <a:t>FINE</a:t>
                      </a:r>
                    </a:p>
                  </a:txBody>
                  <a:tcPr anchor="ctr"/>
                </a:tc>
                <a:tc>
                  <a:txBody>
                    <a:bodyPr/>
                    <a:lstStyle/>
                    <a:p>
                      <a:pPr>
                        <a:buNone/>
                      </a:pPr>
                      <a:r>
                        <a:rPr lang="en-IN"/>
                        <a:t>fine_id</a:t>
                      </a:r>
                    </a:p>
                  </a:txBody>
                  <a:tcPr anchor="ctr"/>
                </a:tc>
                <a:tc>
                  <a:txBody>
                    <a:bodyPr/>
                    <a:lstStyle/>
                    <a:p>
                      <a:pPr>
                        <a:buNone/>
                      </a:pPr>
                      <a:r>
                        <a:rPr lang="en-IN"/>
                        <a:t>loan_id, member_id</a:t>
                      </a:r>
                    </a:p>
                  </a:txBody>
                  <a:tcPr anchor="ctr"/>
                </a:tc>
                <a:tc>
                  <a:txBody>
                    <a:bodyPr/>
                    <a:lstStyle/>
                    <a:p>
                      <a:pPr>
                        <a:buNone/>
                      </a:pPr>
                      <a:r>
                        <a:rPr lang="en-IN" dirty="0"/>
                        <a:t>LOAN(</a:t>
                      </a:r>
                      <a:r>
                        <a:rPr lang="en-IN" dirty="0" err="1"/>
                        <a:t>loan_id</a:t>
                      </a:r>
                      <a:r>
                        <a:rPr lang="en-IN" dirty="0"/>
                        <a:t>), MEMBER(</a:t>
                      </a:r>
                      <a:r>
                        <a:rPr lang="en-IN" dirty="0" err="1"/>
                        <a:t>member_id</a:t>
                      </a:r>
                      <a:r>
                        <a:rPr lang="en-IN" dirty="0"/>
                        <a:t>)</a:t>
                      </a:r>
                    </a:p>
                  </a:txBody>
                  <a:tcPr anchor="ctr"/>
                </a:tc>
                <a:extLst>
                  <a:ext uri="{0D108BD9-81ED-4DB2-BD59-A6C34878D82A}">
                    <a16:rowId xmlns:a16="http://schemas.microsoft.com/office/drawing/2014/main" val="2995309577"/>
                  </a:ext>
                </a:extLst>
              </a:tr>
            </a:tbl>
          </a:graphicData>
        </a:graphic>
      </p:graphicFrame>
    </p:spTree>
    <p:extLst>
      <p:ext uri="{BB962C8B-B14F-4D97-AF65-F5344CB8AC3E}">
        <p14:creationId xmlns:p14="http://schemas.microsoft.com/office/powerpoint/2010/main" val="26077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GITHUB REPOSITORY &amp; TEAM</a:t>
            </a:r>
          </a:p>
        </p:txBody>
      </p:sp>
      <p:sp>
        <p:nvSpPr>
          <p:cNvPr id="11" name="TextBox 10">
            <a:extLst>
              <a:ext uri="{FF2B5EF4-FFF2-40B4-BE49-F238E27FC236}">
                <a16:creationId xmlns:a16="http://schemas.microsoft.com/office/drawing/2014/main" id="{42437192-04CB-5C20-0CD4-4C6CB27A1E07}"/>
              </a:ext>
            </a:extLst>
          </p:cNvPr>
          <p:cNvSpPr txBox="1"/>
          <p:nvPr/>
        </p:nvSpPr>
        <p:spPr>
          <a:xfrm>
            <a:off x="2565400" y="1322612"/>
            <a:ext cx="6858000" cy="1200329"/>
          </a:xfrm>
          <a:prstGeom prst="rect">
            <a:avLst/>
          </a:prstGeom>
          <a:noFill/>
        </p:spPr>
        <p:txBody>
          <a:bodyPr wrap="square">
            <a:spAutoFit/>
          </a:bodyPr>
          <a:lstStyle/>
          <a:p>
            <a:pPr>
              <a:buNone/>
            </a:pPr>
            <a:r>
              <a:rPr lang="en-IN" b="1" dirty="0"/>
              <a:t>Repository Name</a:t>
            </a:r>
          </a:p>
          <a:p>
            <a:pPr>
              <a:buNone/>
            </a:pPr>
            <a:r>
              <a:rPr lang="en-IN" dirty="0"/>
              <a:t>Library-Management-System</a:t>
            </a:r>
          </a:p>
          <a:p>
            <a:pPr>
              <a:buNone/>
            </a:pPr>
            <a:endParaRPr lang="en-IN" dirty="0"/>
          </a:p>
          <a:p>
            <a:pPr>
              <a:buNone/>
            </a:pPr>
            <a:r>
              <a:rPr lang="en-IN" dirty="0"/>
              <a:t>LINK-- </a:t>
            </a:r>
            <a:r>
              <a:rPr lang="en-IN" dirty="0">
                <a:solidFill>
                  <a:schemeClr val="tx2">
                    <a:lumMod val="60000"/>
                    <a:lumOff val="40000"/>
                  </a:schemeClr>
                </a:solidFill>
              </a:rPr>
              <a:t>https://github.com/vamsi747</a:t>
            </a:r>
          </a:p>
        </p:txBody>
      </p:sp>
      <p:graphicFrame>
        <p:nvGraphicFramePr>
          <p:cNvPr id="12" name="Table 11">
            <a:extLst>
              <a:ext uri="{FF2B5EF4-FFF2-40B4-BE49-F238E27FC236}">
                <a16:creationId xmlns:a16="http://schemas.microsoft.com/office/drawing/2014/main" id="{8CBD85A5-10D0-DB44-902E-B0E7A79A6AF7}"/>
              </a:ext>
            </a:extLst>
          </p:cNvPr>
          <p:cNvGraphicFramePr>
            <a:graphicFrameLocks noGrp="1"/>
          </p:cNvGraphicFramePr>
          <p:nvPr>
            <p:extLst>
              <p:ext uri="{D42A27DB-BD31-4B8C-83A1-F6EECF244321}">
                <p14:modId xmlns:p14="http://schemas.microsoft.com/office/powerpoint/2010/main" val="426255463"/>
              </p:ext>
            </p:extLst>
          </p:nvPr>
        </p:nvGraphicFramePr>
        <p:xfrm>
          <a:off x="2565400" y="2590800"/>
          <a:ext cx="8153400" cy="3212659"/>
        </p:xfrm>
        <a:graphic>
          <a:graphicData uri="http://schemas.openxmlformats.org/drawingml/2006/table">
            <a:tbl>
              <a:tblPr firstRow="1" bandRow="1">
                <a:tableStyleId>{7DF18680-E054-41AD-8BC1-D1AEF772440D}</a:tableStyleId>
              </a:tblPr>
              <a:tblGrid>
                <a:gridCol w="4076700">
                  <a:extLst>
                    <a:ext uri="{9D8B030D-6E8A-4147-A177-3AD203B41FA5}">
                      <a16:colId xmlns:a16="http://schemas.microsoft.com/office/drawing/2014/main" val="1140789073"/>
                    </a:ext>
                  </a:extLst>
                </a:gridCol>
                <a:gridCol w="4076700">
                  <a:extLst>
                    <a:ext uri="{9D8B030D-6E8A-4147-A177-3AD203B41FA5}">
                      <a16:colId xmlns:a16="http://schemas.microsoft.com/office/drawing/2014/main" val="239471250"/>
                    </a:ext>
                  </a:extLst>
                </a:gridCol>
              </a:tblGrid>
              <a:tr h="606280">
                <a:tc>
                  <a:txBody>
                    <a:bodyPr/>
                    <a:lstStyle/>
                    <a:p>
                      <a:pPr>
                        <a:buNone/>
                      </a:pPr>
                      <a:r>
                        <a:rPr lang="en-IN" dirty="0"/>
                        <a:t>Member</a:t>
                      </a:r>
                    </a:p>
                  </a:txBody>
                  <a:tcPr anchor="ctr"/>
                </a:tc>
                <a:tc>
                  <a:txBody>
                    <a:bodyPr/>
                    <a:lstStyle/>
                    <a:p>
                      <a:pPr>
                        <a:buNone/>
                      </a:pPr>
                      <a:r>
                        <a:rPr lang="en-IN"/>
                        <a:t>Responsibility</a:t>
                      </a:r>
                    </a:p>
                  </a:txBody>
                  <a:tcPr anchor="ctr"/>
                </a:tc>
                <a:extLst>
                  <a:ext uri="{0D108BD9-81ED-4DB2-BD59-A6C34878D82A}">
                    <a16:rowId xmlns:a16="http://schemas.microsoft.com/office/drawing/2014/main" val="2049730142"/>
                  </a:ext>
                </a:extLst>
              </a:tr>
              <a:tr h="606280">
                <a:tc>
                  <a:txBody>
                    <a:bodyPr/>
                    <a:lstStyle/>
                    <a:p>
                      <a:pPr>
                        <a:buNone/>
                      </a:pPr>
                      <a:r>
                        <a:rPr lang="en-IN" dirty="0"/>
                        <a:t>Y. Renuka </a:t>
                      </a:r>
                      <a:r>
                        <a:rPr lang="en-IN" dirty="0" err="1"/>
                        <a:t>Lahari</a:t>
                      </a:r>
                      <a:endParaRPr lang="en-IN" dirty="0"/>
                    </a:p>
                  </a:txBody>
                  <a:tcPr anchor="ctr"/>
                </a:tc>
                <a:tc>
                  <a:txBody>
                    <a:bodyPr/>
                    <a:lstStyle/>
                    <a:p>
                      <a:pPr>
                        <a:buNone/>
                      </a:pPr>
                      <a:r>
                        <a:rPr lang="en-IN" dirty="0"/>
                        <a:t>ER Diagram , Database Design &amp; PPT</a:t>
                      </a:r>
                    </a:p>
                  </a:txBody>
                  <a:tcPr anchor="ctr"/>
                </a:tc>
                <a:extLst>
                  <a:ext uri="{0D108BD9-81ED-4DB2-BD59-A6C34878D82A}">
                    <a16:rowId xmlns:a16="http://schemas.microsoft.com/office/drawing/2014/main" val="1448612708"/>
                  </a:ext>
                </a:extLst>
              </a:tr>
              <a:tr h="606280">
                <a:tc>
                  <a:txBody>
                    <a:bodyPr/>
                    <a:lstStyle/>
                    <a:p>
                      <a:pPr>
                        <a:buNone/>
                      </a:pPr>
                      <a:r>
                        <a:rPr lang="en-IN"/>
                        <a:t>CH. Lakshmi Narasimha</a:t>
                      </a:r>
                    </a:p>
                  </a:txBody>
                  <a:tcPr anchor="ctr"/>
                </a:tc>
                <a:tc>
                  <a:txBody>
                    <a:bodyPr/>
                    <a:lstStyle/>
                    <a:p>
                      <a:pPr>
                        <a:buNone/>
                      </a:pPr>
                      <a:r>
                        <a:rPr lang="en-IN" dirty="0"/>
                        <a:t>Table Creation &amp; Constraints</a:t>
                      </a:r>
                    </a:p>
                  </a:txBody>
                  <a:tcPr anchor="ctr"/>
                </a:tc>
                <a:extLst>
                  <a:ext uri="{0D108BD9-81ED-4DB2-BD59-A6C34878D82A}">
                    <a16:rowId xmlns:a16="http://schemas.microsoft.com/office/drawing/2014/main" val="286538781"/>
                  </a:ext>
                </a:extLst>
              </a:tr>
              <a:tr h="606280">
                <a:tc>
                  <a:txBody>
                    <a:bodyPr/>
                    <a:lstStyle/>
                    <a:p>
                      <a:pPr>
                        <a:buNone/>
                      </a:pPr>
                      <a:r>
                        <a:rPr lang="en-IN" dirty="0"/>
                        <a:t>K. Saranya</a:t>
                      </a:r>
                    </a:p>
                  </a:txBody>
                  <a:tcPr anchor="ctr"/>
                </a:tc>
                <a:tc>
                  <a:txBody>
                    <a:bodyPr/>
                    <a:lstStyle/>
                    <a:p>
                      <a:pPr>
                        <a:buNone/>
                      </a:pPr>
                      <a:r>
                        <a:rPr lang="en-IN" dirty="0"/>
                        <a:t>Sample Data ,SQL Operations &amp; Queries</a:t>
                      </a:r>
                    </a:p>
                  </a:txBody>
                  <a:tcPr anchor="ctr"/>
                </a:tc>
                <a:extLst>
                  <a:ext uri="{0D108BD9-81ED-4DB2-BD59-A6C34878D82A}">
                    <a16:rowId xmlns:a16="http://schemas.microsoft.com/office/drawing/2014/main" val="2464588315"/>
                  </a:ext>
                </a:extLst>
              </a:tr>
              <a:tr h="787539">
                <a:tc>
                  <a:txBody>
                    <a:bodyPr/>
                    <a:lstStyle/>
                    <a:p>
                      <a:pPr>
                        <a:buNone/>
                      </a:pPr>
                      <a:r>
                        <a:rPr lang="en-IN" dirty="0"/>
                        <a:t>CH. Harishwar</a:t>
                      </a:r>
                    </a:p>
                  </a:txBody>
                  <a:tcPr anchor="ctr"/>
                </a:tc>
                <a:tc>
                  <a:txBody>
                    <a:bodyPr/>
                    <a:lstStyle/>
                    <a:p>
                      <a:pPr>
                        <a:buNone/>
                      </a:pPr>
                      <a:r>
                        <a:rPr lang="en-IN" dirty="0"/>
                        <a:t>  Screenshots , Documentation </a:t>
                      </a:r>
                    </a:p>
                  </a:txBody>
                  <a:tcPr anchor="ctr"/>
                </a:tc>
                <a:extLst>
                  <a:ext uri="{0D108BD9-81ED-4DB2-BD59-A6C34878D82A}">
                    <a16:rowId xmlns:a16="http://schemas.microsoft.com/office/drawing/2014/main" val="1379527057"/>
                  </a:ext>
                </a:extLst>
              </a:tr>
            </a:tbl>
          </a:graphicData>
        </a:graphic>
      </p:graphicFrame>
    </p:spTree>
    <p:extLst>
      <p:ext uri="{BB962C8B-B14F-4D97-AF65-F5344CB8AC3E}">
        <p14:creationId xmlns:p14="http://schemas.microsoft.com/office/powerpoint/2010/main" val="26077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DATABASE &amp; CONSTRAINTS</a:t>
            </a:r>
          </a:p>
        </p:txBody>
      </p:sp>
      <p:pic>
        <p:nvPicPr>
          <p:cNvPr id="22" name="Picture 21">
            <a:extLst>
              <a:ext uri="{FF2B5EF4-FFF2-40B4-BE49-F238E27FC236}">
                <a16:creationId xmlns:a16="http://schemas.microsoft.com/office/drawing/2014/main" id="{98B4BCF7-EC9C-03C5-4FB9-B8D51B4F2268}"/>
              </a:ext>
            </a:extLst>
          </p:cNvPr>
          <p:cNvPicPr>
            <a:picLocks noChangeAspect="1"/>
          </p:cNvPicPr>
          <p:nvPr/>
        </p:nvPicPr>
        <p:blipFill>
          <a:blip r:embed="rId6"/>
          <a:stretch>
            <a:fillRect/>
          </a:stretch>
        </p:blipFill>
        <p:spPr>
          <a:xfrm>
            <a:off x="2641601" y="1306606"/>
            <a:ext cx="4267200" cy="5932394"/>
          </a:xfrm>
          <a:prstGeom prst="rect">
            <a:avLst/>
          </a:prstGeom>
        </p:spPr>
      </p:pic>
      <p:pic>
        <p:nvPicPr>
          <p:cNvPr id="24" name="Picture 23">
            <a:extLst>
              <a:ext uri="{FF2B5EF4-FFF2-40B4-BE49-F238E27FC236}">
                <a16:creationId xmlns:a16="http://schemas.microsoft.com/office/drawing/2014/main" id="{66F94321-944A-AEC1-4853-97C6842B8D86}"/>
              </a:ext>
            </a:extLst>
          </p:cNvPr>
          <p:cNvPicPr>
            <a:picLocks noChangeAspect="1"/>
          </p:cNvPicPr>
          <p:nvPr/>
        </p:nvPicPr>
        <p:blipFill>
          <a:blip r:embed="rId7"/>
          <a:stretch>
            <a:fillRect/>
          </a:stretch>
        </p:blipFill>
        <p:spPr>
          <a:xfrm>
            <a:off x="6963808" y="1040290"/>
            <a:ext cx="4974193" cy="6410786"/>
          </a:xfrm>
          <a:prstGeom prst="rect">
            <a:avLst/>
          </a:prstGeom>
        </p:spPr>
      </p:pic>
    </p:spTree>
    <p:extLst>
      <p:ext uri="{BB962C8B-B14F-4D97-AF65-F5344CB8AC3E}">
        <p14:creationId xmlns:p14="http://schemas.microsoft.com/office/powerpoint/2010/main" val="26077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BFD44B34-4D5B-7AEE-334A-0B6C7D7EF662}"/>
              </a:ext>
            </a:extLst>
          </p:cNvPr>
          <p:cNvGrpSpPr/>
          <p:nvPr/>
        </p:nvGrpSpPr>
        <p:grpSpPr>
          <a:xfrm>
            <a:off x="4546600" y="76201"/>
            <a:ext cx="5103904" cy="1198311"/>
            <a:chOff x="2648188" y="47148"/>
            <a:chExt cx="5103904" cy="1198311"/>
          </a:xfrm>
        </p:grpSpPr>
        <p:pic>
          <p:nvPicPr>
            <p:cNvPr id="5" name="object 4">
              <a:extLst>
                <a:ext uri="{FF2B5EF4-FFF2-40B4-BE49-F238E27FC236}">
                  <a16:creationId xmlns:a16="http://schemas.microsoft.com/office/drawing/2014/main" id="{70926D53-6E8F-7680-78CE-CF062D5DE37B}"/>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C63C61F5-351C-DDA5-E5F3-A9354D37578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1F6E267-0229-B7A1-1B45-A2E75BD01AF8}"/>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D5A9AE0C-E020-F71C-0EDC-835C5CCC6965}"/>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TextBox 9">
            <a:extLst>
              <a:ext uri="{FF2B5EF4-FFF2-40B4-BE49-F238E27FC236}">
                <a16:creationId xmlns:a16="http://schemas.microsoft.com/office/drawing/2014/main" id="{89EE1FCF-DB95-A0A8-A8BF-23D5115F9126}"/>
              </a:ext>
            </a:extLst>
          </p:cNvPr>
          <p:cNvSpPr txBox="1"/>
          <p:nvPr/>
        </p:nvSpPr>
        <p:spPr>
          <a:xfrm>
            <a:off x="4838131" y="311946"/>
            <a:ext cx="4585269"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DATABASE &amp; CONSTRAINTS</a:t>
            </a:r>
          </a:p>
        </p:txBody>
      </p:sp>
      <p:pic>
        <p:nvPicPr>
          <p:cNvPr id="12" name="Picture 11">
            <a:extLst>
              <a:ext uri="{FF2B5EF4-FFF2-40B4-BE49-F238E27FC236}">
                <a16:creationId xmlns:a16="http://schemas.microsoft.com/office/drawing/2014/main" id="{362F0C96-6125-12D9-B947-20980D55E9C0}"/>
              </a:ext>
            </a:extLst>
          </p:cNvPr>
          <p:cNvPicPr>
            <a:picLocks noChangeAspect="1"/>
          </p:cNvPicPr>
          <p:nvPr/>
        </p:nvPicPr>
        <p:blipFill>
          <a:blip r:embed="rId5"/>
          <a:stretch>
            <a:fillRect/>
          </a:stretch>
        </p:blipFill>
        <p:spPr>
          <a:xfrm>
            <a:off x="2717801" y="991621"/>
            <a:ext cx="5257800" cy="6121929"/>
          </a:xfrm>
          <a:prstGeom prst="rect">
            <a:avLst/>
          </a:prstGeom>
        </p:spPr>
      </p:pic>
      <p:pic>
        <p:nvPicPr>
          <p:cNvPr id="14" name="Picture 13">
            <a:extLst>
              <a:ext uri="{FF2B5EF4-FFF2-40B4-BE49-F238E27FC236}">
                <a16:creationId xmlns:a16="http://schemas.microsoft.com/office/drawing/2014/main" id="{FC010774-34C4-0190-E747-75D8973D1C1B}"/>
              </a:ext>
            </a:extLst>
          </p:cNvPr>
          <p:cNvPicPr>
            <a:picLocks noChangeAspect="1"/>
          </p:cNvPicPr>
          <p:nvPr/>
        </p:nvPicPr>
        <p:blipFill>
          <a:blip r:embed="rId6"/>
          <a:stretch>
            <a:fillRect/>
          </a:stretch>
        </p:blipFill>
        <p:spPr>
          <a:xfrm>
            <a:off x="7318282" y="1470965"/>
            <a:ext cx="4210235" cy="3329635"/>
          </a:xfrm>
          <a:prstGeom prst="rect">
            <a:avLst/>
          </a:prstGeom>
        </p:spPr>
      </p:pic>
    </p:spTree>
    <p:extLst>
      <p:ext uri="{BB962C8B-B14F-4D97-AF65-F5344CB8AC3E}">
        <p14:creationId xmlns:p14="http://schemas.microsoft.com/office/powerpoint/2010/main" val="3913100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SAMPLE DATA INSERTION</a:t>
            </a:r>
          </a:p>
        </p:txBody>
      </p:sp>
      <p:sp>
        <p:nvSpPr>
          <p:cNvPr id="12" name="TextBox 11">
            <a:extLst>
              <a:ext uri="{FF2B5EF4-FFF2-40B4-BE49-F238E27FC236}">
                <a16:creationId xmlns:a16="http://schemas.microsoft.com/office/drawing/2014/main" id="{CB750800-F5DB-A4BE-6952-02CC63C7C1DC}"/>
              </a:ext>
            </a:extLst>
          </p:cNvPr>
          <p:cNvSpPr txBox="1"/>
          <p:nvPr/>
        </p:nvSpPr>
        <p:spPr>
          <a:xfrm>
            <a:off x="2336800" y="1040290"/>
            <a:ext cx="4953000" cy="3206006"/>
          </a:xfrm>
          <a:prstGeom prst="rect">
            <a:avLst/>
          </a:prstGeom>
          <a:noFill/>
        </p:spPr>
        <p:txBody>
          <a:bodyPr wrap="square">
            <a:spAutoFit/>
          </a:bodyPr>
          <a:lstStyle/>
          <a:p>
            <a:pPr algn="just">
              <a:spcAft>
                <a:spcPts val="1000"/>
              </a:spcAft>
            </a:pPr>
            <a:r>
              <a:rPr lang="en-US" dirty="0">
                <a:latin typeface="Times New Roman" panose="02020603050405020304" pitchFamily="18" charset="0"/>
                <a:ea typeface="Times New Roman" panose="02020603050405020304" pitchFamily="18" charset="0"/>
              </a:rPr>
              <a:t>1.INSERT INTO Author</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a:t>
            </a:r>
            <a:r>
              <a:rPr lang="en-US" dirty="0" err="1">
                <a:latin typeface="Times New Roman" panose="02020603050405020304" pitchFamily="18" charset="0"/>
                <a:ea typeface="Times New Roman" panose="02020603050405020304" pitchFamily="18" charset="0"/>
              </a:rPr>
              <a:t>author_id</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first_name</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last_name</a:t>
            </a:r>
            <a:r>
              <a:rPr lang="en-US" dirty="0">
                <a:latin typeface="Times New Roman" panose="02020603050405020304" pitchFamily="18" charset="0"/>
                <a:ea typeface="Times New Roman" panose="02020603050405020304" pitchFamily="18" charset="0"/>
              </a:rPr>
              <a:t>, nationality)</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VALUES</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(1, 'Ravi', 'Kumar', 'Indian'),</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(2, 'Anita', 'Sharma', 'Indian'),</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(3, 'John', 'Smith', 'American'),</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(4, 'Robert', 'Martin', 'American'),</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(5, 'Priya', 'Reddy', 'Indian');</a:t>
            </a:r>
            <a:endParaRPr lang="en-IN" sz="1200" dirty="0">
              <a:latin typeface="Times New Roman" panose="02020603050405020304" pitchFamily="18" charset="0"/>
              <a:ea typeface="Times New Roman" panose="02020603050405020304" pitchFamily="18" charset="0"/>
            </a:endParaRPr>
          </a:p>
        </p:txBody>
      </p:sp>
      <p:pic>
        <p:nvPicPr>
          <p:cNvPr id="14" name="Picture 13">
            <a:extLst>
              <a:ext uri="{FF2B5EF4-FFF2-40B4-BE49-F238E27FC236}">
                <a16:creationId xmlns:a16="http://schemas.microsoft.com/office/drawing/2014/main" id="{370216EA-D81D-83A2-D8D9-C54D4BA294D5}"/>
              </a:ext>
            </a:extLst>
          </p:cNvPr>
          <p:cNvPicPr>
            <a:picLocks noChangeAspect="1"/>
          </p:cNvPicPr>
          <p:nvPr/>
        </p:nvPicPr>
        <p:blipFill>
          <a:blip r:embed="rId6"/>
          <a:stretch>
            <a:fillRect/>
          </a:stretch>
        </p:blipFill>
        <p:spPr>
          <a:xfrm>
            <a:off x="2413000" y="4284987"/>
            <a:ext cx="7391400" cy="3206005"/>
          </a:xfrm>
          <a:prstGeom prst="rect">
            <a:avLst/>
          </a:prstGeom>
        </p:spPr>
      </p:pic>
    </p:spTree>
    <p:extLst>
      <p:ext uri="{BB962C8B-B14F-4D97-AF65-F5344CB8AC3E}">
        <p14:creationId xmlns:p14="http://schemas.microsoft.com/office/powerpoint/2010/main" val="26077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7B524B4A-BB91-D1D6-5528-1258B5E1C15F}"/>
              </a:ext>
            </a:extLst>
          </p:cNvPr>
          <p:cNvGrpSpPr/>
          <p:nvPr/>
        </p:nvGrpSpPr>
        <p:grpSpPr>
          <a:xfrm>
            <a:off x="4546600" y="85009"/>
            <a:ext cx="5103904" cy="1198311"/>
            <a:chOff x="2648188" y="47148"/>
            <a:chExt cx="5103904" cy="1198311"/>
          </a:xfrm>
        </p:grpSpPr>
        <p:pic>
          <p:nvPicPr>
            <p:cNvPr id="5" name="object 4">
              <a:extLst>
                <a:ext uri="{FF2B5EF4-FFF2-40B4-BE49-F238E27FC236}">
                  <a16:creationId xmlns:a16="http://schemas.microsoft.com/office/drawing/2014/main" id="{25A77884-3D96-601E-55A5-B2D329BD488F}"/>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A4090CB9-3C8B-2CE7-2DAC-3CFFC2111CFF}"/>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093B2001-1075-8502-ED08-B6138A1A2E4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C46F6B8B-B71E-8E33-1FAA-979175304C60}"/>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TextBox 9">
            <a:extLst>
              <a:ext uri="{FF2B5EF4-FFF2-40B4-BE49-F238E27FC236}">
                <a16:creationId xmlns:a16="http://schemas.microsoft.com/office/drawing/2014/main" id="{6B9B1E94-5131-A83F-7C31-5105FDD0DF90}"/>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SAMPLE DATA INSERTION</a:t>
            </a:r>
          </a:p>
        </p:txBody>
      </p:sp>
      <p:sp>
        <p:nvSpPr>
          <p:cNvPr id="16" name="TextBox 15">
            <a:extLst>
              <a:ext uri="{FF2B5EF4-FFF2-40B4-BE49-F238E27FC236}">
                <a16:creationId xmlns:a16="http://schemas.microsoft.com/office/drawing/2014/main" id="{A1CAD18D-44E2-A03D-865E-A9D58922D44F}"/>
              </a:ext>
            </a:extLst>
          </p:cNvPr>
          <p:cNvSpPr txBox="1"/>
          <p:nvPr/>
        </p:nvSpPr>
        <p:spPr>
          <a:xfrm>
            <a:off x="2413000" y="910766"/>
            <a:ext cx="7010400" cy="2800767"/>
          </a:xfrm>
          <a:prstGeom prst="rect">
            <a:avLst/>
          </a:prstGeom>
          <a:noFill/>
        </p:spPr>
        <p:txBody>
          <a:bodyPr wrap="square">
            <a:spAutoFit/>
          </a:bodyPr>
          <a:lstStyle/>
          <a:p>
            <a:pPr algn="just">
              <a:spcAft>
                <a:spcPts val="1000"/>
              </a:spcAft>
            </a:pPr>
            <a:r>
              <a:rPr lang="en-US" dirty="0">
                <a:latin typeface="Times New Roman" panose="02020603050405020304" pitchFamily="18" charset="0"/>
                <a:ea typeface="Times New Roman" panose="02020603050405020304" pitchFamily="18" charset="0"/>
              </a:rPr>
              <a:t>2.INSERT INTO Publisher</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a:t>
            </a:r>
            <a:r>
              <a:rPr lang="en-US" dirty="0" err="1">
                <a:latin typeface="Times New Roman" panose="02020603050405020304" pitchFamily="18" charset="0"/>
                <a:ea typeface="Times New Roman" panose="02020603050405020304" pitchFamily="18" charset="0"/>
              </a:rPr>
              <a:t>publisher_id</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publisher_name</a:t>
            </a:r>
            <a:r>
              <a:rPr lang="en-US" dirty="0">
                <a:latin typeface="Times New Roman" panose="02020603050405020304" pitchFamily="18" charset="0"/>
                <a:ea typeface="Times New Roman" panose="02020603050405020304" pitchFamily="18" charset="0"/>
              </a:rPr>
              <a:t>, country, website)</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VALUES</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(1, 'Penguin Books', 'India', 'https://www.penguin.co.in'),</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(2, 'Oxford University Press', 'UK', 'https://global.oup.com'),</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(3, 'McGraw Hill', 'USA', 'https://www.mheducation.com'),</a:t>
            </a:r>
            <a:endParaRPr lang="en-IN" dirty="0">
              <a:latin typeface="Times New Roman" panose="02020603050405020304" pitchFamily="18" charset="0"/>
              <a:ea typeface="Times New Roman" panose="02020603050405020304" pitchFamily="18" charset="0"/>
            </a:endParaRPr>
          </a:p>
          <a:p>
            <a:pPr algn="just">
              <a:spcAft>
                <a:spcPts val="1000"/>
              </a:spcAft>
            </a:pPr>
            <a:r>
              <a:rPr lang="en-US" dirty="0">
                <a:latin typeface="Times New Roman" panose="02020603050405020304" pitchFamily="18" charset="0"/>
                <a:ea typeface="Times New Roman" panose="02020603050405020304" pitchFamily="18" charset="0"/>
              </a:rPr>
              <a:t>(4, 'Pearson Education', 'UK', 'https://www.pearson.com');</a:t>
            </a:r>
            <a:endParaRPr lang="en-IN" sz="1200" dirty="0">
              <a:latin typeface="Times New Roman" panose="02020603050405020304" pitchFamily="18" charset="0"/>
              <a:ea typeface="Times New Roman" panose="02020603050405020304" pitchFamily="18" charset="0"/>
            </a:endParaRPr>
          </a:p>
        </p:txBody>
      </p:sp>
      <p:pic>
        <p:nvPicPr>
          <p:cNvPr id="18" name="Picture 17">
            <a:extLst>
              <a:ext uri="{FF2B5EF4-FFF2-40B4-BE49-F238E27FC236}">
                <a16:creationId xmlns:a16="http://schemas.microsoft.com/office/drawing/2014/main" id="{2FBBF148-ECB1-17A7-B8F0-A33875272FF2}"/>
              </a:ext>
            </a:extLst>
          </p:cNvPr>
          <p:cNvPicPr>
            <a:picLocks noChangeAspect="1"/>
          </p:cNvPicPr>
          <p:nvPr/>
        </p:nvPicPr>
        <p:blipFill>
          <a:blip r:embed="rId5"/>
          <a:stretch>
            <a:fillRect/>
          </a:stretch>
        </p:blipFill>
        <p:spPr>
          <a:xfrm>
            <a:off x="2358353" y="3886201"/>
            <a:ext cx="8820558" cy="3463943"/>
          </a:xfrm>
          <a:prstGeom prst="rect">
            <a:avLst/>
          </a:prstGeom>
        </p:spPr>
      </p:pic>
    </p:spTree>
    <p:extLst>
      <p:ext uri="{BB962C8B-B14F-4D97-AF65-F5344CB8AC3E}">
        <p14:creationId xmlns:p14="http://schemas.microsoft.com/office/powerpoint/2010/main" val="838358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DDL, DML &amp; DQL OPERATIONS</a:t>
            </a:r>
          </a:p>
        </p:txBody>
      </p:sp>
      <p:sp>
        <p:nvSpPr>
          <p:cNvPr id="10" name="TextBox 9">
            <a:extLst>
              <a:ext uri="{FF2B5EF4-FFF2-40B4-BE49-F238E27FC236}">
                <a16:creationId xmlns:a16="http://schemas.microsoft.com/office/drawing/2014/main" id="{A7AB0FDD-A034-7483-0CF8-FA61F97ADEF9}"/>
              </a:ext>
            </a:extLst>
          </p:cNvPr>
          <p:cNvSpPr txBox="1"/>
          <p:nvPr/>
        </p:nvSpPr>
        <p:spPr>
          <a:xfrm>
            <a:off x="2207522" y="772930"/>
            <a:ext cx="6647761" cy="923330"/>
          </a:xfrm>
          <a:prstGeom prst="rect">
            <a:avLst/>
          </a:prstGeom>
          <a:noFill/>
        </p:spPr>
        <p:txBody>
          <a:bodyPr wrap="square">
            <a:spAutoFit/>
          </a:bodyPr>
          <a:lstStyle/>
          <a:p>
            <a:pPr>
              <a:buNone/>
            </a:pPr>
            <a:r>
              <a:rPr lang="en-IN" dirty="0">
                <a:solidFill>
                  <a:srgbClr val="7030A0"/>
                </a:solidFill>
              </a:rPr>
              <a:t>DDL QUERY</a:t>
            </a:r>
          </a:p>
          <a:p>
            <a:pPr>
              <a:buNone/>
            </a:pPr>
            <a:r>
              <a:rPr lang="en-IN" dirty="0"/>
              <a:t>ALTER TABLE Publisher</a:t>
            </a:r>
          </a:p>
          <a:p>
            <a:pPr>
              <a:buNone/>
            </a:pPr>
            <a:r>
              <a:rPr lang="en-IN" dirty="0"/>
              <a:t>ADD </a:t>
            </a:r>
            <a:r>
              <a:rPr lang="en-IN" dirty="0" err="1"/>
              <a:t>established_year</a:t>
            </a:r>
            <a:r>
              <a:rPr lang="en-IN" dirty="0"/>
              <a:t> INT;</a:t>
            </a:r>
          </a:p>
        </p:txBody>
      </p:sp>
      <p:pic>
        <p:nvPicPr>
          <p:cNvPr id="12" name="Picture 11">
            <a:extLst>
              <a:ext uri="{FF2B5EF4-FFF2-40B4-BE49-F238E27FC236}">
                <a16:creationId xmlns:a16="http://schemas.microsoft.com/office/drawing/2014/main" id="{811E1286-F98A-2B35-C082-73930876342E}"/>
              </a:ext>
            </a:extLst>
          </p:cNvPr>
          <p:cNvPicPr>
            <a:picLocks noChangeAspect="1"/>
          </p:cNvPicPr>
          <p:nvPr/>
        </p:nvPicPr>
        <p:blipFill>
          <a:blip r:embed="rId6"/>
          <a:stretch>
            <a:fillRect/>
          </a:stretch>
        </p:blipFill>
        <p:spPr>
          <a:xfrm>
            <a:off x="2207521" y="1660846"/>
            <a:ext cx="9113652" cy="2394811"/>
          </a:xfrm>
          <a:prstGeom prst="rect">
            <a:avLst/>
          </a:prstGeom>
        </p:spPr>
      </p:pic>
      <p:sp>
        <p:nvSpPr>
          <p:cNvPr id="18" name="TextBox 17">
            <a:extLst>
              <a:ext uri="{FF2B5EF4-FFF2-40B4-BE49-F238E27FC236}">
                <a16:creationId xmlns:a16="http://schemas.microsoft.com/office/drawing/2014/main" id="{BAEE082A-2028-0570-2515-879197F9D5B9}"/>
              </a:ext>
            </a:extLst>
          </p:cNvPr>
          <p:cNvSpPr txBox="1"/>
          <p:nvPr/>
        </p:nvSpPr>
        <p:spPr>
          <a:xfrm>
            <a:off x="2207522" y="4148628"/>
            <a:ext cx="7215879" cy="923330"/>
          </a:xfrm>
          <a:prstGeom prst="rect">
            <a:avLst/>
          </a:prstGeom>
          <a:noFill/>
        </p:spPr>
        <p:txBody>
          <a:bodyPr wrap="square">
            <a:spAutoFit/>
          </a:bodyPr>
          <a:lstStyle/>
          <a:p>
            <a:r>
              <a:rPr lang="en-US" dirty="0">
                <a:solidFill>
                  <a:srgbClr val="7030A0"/>
                </a:solidFill>
              </a:rPr>
              <a:t>DML QUERY</a:t>
            </a:r>
          </a:p>
          <a:p>
            <a:r>
              <a:rPr lang="en-US" dirty="0"/>
              <a:t>UPDATE country = 'United States'</a:t>
            </a:r>
          </a:p>
          <a:p>
            <a:r>
              <a:rPr lang="en-US" dirty="0"/>
              <a:t>WHERE </a:t>
            </a:r>
            <a:r>
              <a:rPr lang="en-US" dirty="0" err="1"/>
              <a:t>publisher_id</a:t>
            </a:r>
            <a:r>
              <a:rPr lang="en-US" dirty="0"/>
              <a:t> = 1;</a:t>
            </a:r>
            <a:endParaRPr lang="en-IN" dirty="0"/>
          </a:p>
        </p:txBody>
      </p:sp>
      <p:pic>
        <p:nvPicPr>
          <p:cNvPr id="20" name="Picture 19">
            <a:extLst>
              <a:ext uri="{FF2B5EF4-FFF2-40B4-BE49-F238E27FC236}">
                <a16:creationId xmlns:a16="http://schemas.microsoft.com/office/drawing/2014/main" id="{3CB76AEA-3A81-313E-46DD-6E80CAABE643}"/>
              </a:ext>
            </a:extLst>
          </p:cNvPr>
          <p:cNvPicPr>
            <a:picLocks noChangeAspect="1"/>
          </p:cNvPicPr>
          <p:nvPr/>
        </p:nvPicPr>
        <p:blipFill>
          <a:blip r:embed="rId7"/>
          <a:stretch>
            <a:fillRect/>
          </a:stretch>
        </p:blipFill>
        <p:spPr>
          <a:xfrm>
            <a:off x="2213098" y="5071959"/>
            <a:ext cx="9113653" cy="2571913"/>
          </a:xfrm>
          <a:prstGeom prst="rect">
            <a:avLst/>
          </a:prstGeom>
        </p:spPr>
      </p:pic>
    </p:spTree>
    <p:extLst>
      <p:ext uri="{BB962C8B-B14F-4D97-AF65-F5344CB8AC3E}">
        <p14:creationId xmlns:p14="http://schemas.microsoft.com/office/powerpoint/2010/main" val="26077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36CFB980-71DC-E609-4E78-25512D8BCCB5}"/>
              </a:ext>
            </a:extLst>
          </p:cNvPr>
          <p:cNvGrpSpPr/>
          <p:nvPr/>
        </p:nvGrpSpPr>
        <p:grpSpPr>
          <a:xfrm>
            <a:off x="4546600" y="85009"/>
            <a:ext cx="5103904" cy="1198311"/>
            <a:chOff x="2648188" y="47148"/>
            <a:chExt cx="5103904" cy="1198311"/>
          </a:xfrm>
        </p:grpSpPr>
        <p:pic>
          <p:nvPicPr>
            <p:cNvPr id="5" name="object 4">
              <a:extLst>
                <a:ext uri="{FF2B5EF4-FFF2-40B4-BE49-F238E27FC236}">
                  <a16:creationId xmlns:a16="http://schemas.microsoft.com/office/drawing/2014/main" id="{805A441A-A751-3706-EFDE-CE45C380D0EE}"/>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E91959C7-5D51-85F8-4D00-FD82B3575CF5}"/>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3056BECB-1C05-F607-11CB-3E7707110AC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A3FE2644-660B-6F43-17B3-C0AAF7FECC31}"/>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76F0939F-A65D-FFCA-7A1E-D928C44FB00B}"/>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DDL, DML &amp; DQL OPERATIONS</a:t>
            </a:r>
          </a:p>
        </p:txBody>
      </p:sp>
      <p:sp>
        <p:nvSpPr>
          <p:cNvPr id="17" name="TextBox 16">
            <a:extLst>
              <a:ext uri="{FF2B5EF4-FFF2-40B4-BE49-F238E27FC236}">
                <a16:creationId xmlns:a16="http://schemas.microsoft.com/office/drawing/2014/main" id="{C32D105A-A57E-0FA4-9787-62CD77335903}"/>
              </a:ext>
            </a:extLst>
          </p:cNvPr>
          <p:cNvSpPr txBox="1"/>
          <p:nvPr/>
        </p:nvSpPr>
        <p:spPr>
          <a:xfrm>
            <a:off x="2897130" y="973628"/>
            <a:ext cx="6526271" cy="1200329"/>
          </a:xfrm>
          <a:prstGeom prst="rect">
            <a:avLst/>
          </a:prstGeom>
          <a:noFill/>
        </p:spPr>
        <p:txBody>
          <a:bodyPr wrap="square">
            <a:spAutoFit/>
          </a:bodyPr>
          <a:lstStyle/>
          <a:p>
            <a:pPr>
              <a:buNone/>
            </a:pPr>
            <a:r>
              <a:rPr lang="en-IN" dirty="0">
                <a:solidFill>
                  <a:srgbClr val="7030A0"/>
                </a:solidFill>
              </a:rPr>
              <a:t>DQL QUERY</a:t>
            </a:r>
          </a:p>
          <a:p>
            <a:pPr>
              <a:buNone/>
            </a:pPr>
            <a:endParaRPr lang="en-IN" dirty="0">
              <a:solidFill>
                <a:srgbClr val="7030A0"/>
              </a:solidFill>
            </a:endParaRPr>
          </a:p>
          <a:p>
            <a:pPr>
              <a:buNone/>
            </a:pPr>
            <a:r>
              <a:rPr lang="en-IN" dirty="0"/>
              <a:t>SELECT COUNT(*) AS </a:t>
            </a:r>
            <a:r>
              <a:rPr lang="en-IN" dirty="0" err="1"/>
              <a:t>total_publishers</a:t>
            </a:r>
            <a:r>
              <a:rPr lang="en-IN" dirty="0"/>
              <a:t> </a:t>
            </a:r>
          </a:p>
          <a:p>
            <a:pPr>
              <a:buNone/>
            </a:pPr>
            <a:r>
              <a:rPr lang="en-IN" dirty="0"/>
              <a:t>FROM Publisher;</a:t>
            </a:r>
          </a:p>
        </p:txBody>
      </p:sp>
      <p:pic>
        <p:nvPicPr>
          <p:cNvPr id="19" name="Picture 18">
            <a:extLst>
              <a:ext uri="{FF2B5EF4-FFF2-40B4-BE49-F238E27FC236}">
                <a16:creationId xmlns:a16="http://schemas.microsoft.com/office/drawing/2014/main" id="{8342AEB0-76FF-6249-C8CD-0A89257EC50E}"/>
              </a:ext>
            </a:extLst>
          </p:cNvPr>
          <p:cNvPicPr>
            <a:picLocks noChangeAspect="1"/>
          </p:cNvPicPr>
          <p:nvPr/>
        </p:nvPicPr>
        <p:blipFill>
          <a:blip r:embed="rId5"/>
          <a:stretch>
            <a:fillRect/>
          </a:stretch>
        </p:blipFill>
        <p:spPr>
          <a:xfrm>
            <a:off x="2948260" y="2402282"/>
            <a:ext cx="8151541" cy="3084118"/>
          </a:xfrm>
          <a:prstGeom prst="rect">
            <a:avLst/>
          </a:prstGeom>
        </p:spPr>
      </p:pic>
    </p:spTree>
    <p:extLst>
      <p:ext uri="{BB962C8B-B14F-4D97-AF65-F5344CB8AC3E}">
        <p14:creationId xmlns:p14="http://schemas.microsoft.com/office/powerpoint/2010/main" val="2509201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5306966" y="321325"/>
            <a:ext cx="5103904"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CRUD &amp; SQL QUERIES</a:t>
            </a:r>
          </a:p>
        </p:txBody>
      </p:sp>
      <p:pic>
        <p:nvPicPr>
          <p:cNvPr id="8" name="Picture 7">
            <a:extLst>
              <a:ext uri="{FF2B5EF4-FFF2-40B4-BE49-F238E27FC236}">
                <a16:creationId xmlns:a16="http://schemas.microsoft.com/office/drawing/2014/main" id="{CC7AAE71-BD2F-ED48-5C6B-083EEC410013}"/>
              </a:ext>
            </a:extLst>
          </p:cNvPr>
          <p:cNvPicPr>
            <a:picLocks noChangeAspect="1"/>
          </p:cNvPicPr>
          <p:nvPr/>
        </p:nvPicPr>
        <p:blipFill>
          <a:blip r:embed="rId6"/>
          <a:stretch>
            <a:fillRect/>
          </a:stretch>
        </p:blipFill>
        <p:spPr>
          <a:xfrm>
            <a:off x="3043988" y="3621096"/>
            <a:ext cx="7674813" cy="3465504"/>
          </a:xfrm>
          <a:prstGeom prst="rect">
            <a:avLst/>
          </a:prstGeom>
        </p:spPr>
      </p:pic>
      <p:sp>
        <p:nvSpPr>
          <p:cNvPr id="11" name="TextBox 10">
            <a:extLst>
              <a:ext uri="{FF2B5EF4-FFF2-40B4-BE49-F238E27FC236}">
                <a16:creationId xmlns:a16="http://schemas.microsoft.com/office/drawing/2014/main" id="{381F597D-11D3-9A16-6E37-59FB00B143DB}"/>
              </a:ext>
            </a:extLst>
          </p:cNvPr>
          <p:cNvSpPr txBox="1"/>
          <p:nvPr/>
        </p:nvSpPr>
        <p:spPr>
          <a:xfrm>
            <a:off x="3081134" y="910765"/>
            <a:ext cx="6495972" cy="2400657"/>
          </a:xfrm>
          <a:prstGeom prst="rect">
            <a:avLst/>
          </a:prstGeom>
          <a:noFill/>
        </p:spPr>
        <p:txBody>
          <a:bodyPr wrap="square">
            <a:spAutoFit/>
          </a:bodyPr>
          <a:lstStyle/>
          <a:p>
            <a:pPr algn="just">
              <a:spcBef>
                <a:spcPts val="1200"/>
              </a:spcBef>
              <a:spcAft>
                <a:spcPts val="600"/>
              </a:spcAft>
            </a:pPr>
            <a:r>
              <a:rPr lang="en-IN" dirty="0">
                <a:solidFill>
                  <a:srgbClr val="FF0000"/>
                </a:solidFill>
                <a:latin typeface="Times New Roman" panose="02020603050405020304" pitchFamily="18" charset="0"/>
                <a:ea typeface="Times New Roman" panose="02020603050405020304" pitchFamily="18" charset="0"/>
              </a:rPr>
              <a:t>JOINS</a:t>
            </a:r>
          </a:p>
          <a:p>
            <a:pPr algn="just">
              <a:spcBef>
                <a:spcPts val="1200"/>
              </a:spcBef>
              <a:spcAft>
                <a:spcPts val="600"/>
              </a:spcAft>
            </a:pPr>
            <a:r>
              <a:rPr lang="en-IN" dirty="0">
                <a:latin typeface="Times New Roman" panose="02020603050405020304" pitchFamily="18" charset="0"/>
                <a:ea typeface="Times New Roman" panose="02020603050405020304" pitchFamily="18" charset="0"/>
              </a:rPr>
              <a:t>SELECT </a:t>
            </a:r>
            <a:r>
              <a:rPr lang="en-IN" dirty="0" err="1">
                <a:latin typeface="Times New Roman" panose="02020603050405020304" pitchFamily="18" charset="0"/>
                <a:ea typeface="Times New Roman" panose="02020603050405020304" pitchFamily="18" charset="0"/>
              </a:rPr>
              <a:t>b.book_id</a:t>
            </a:r>
            <a:r>
              <a:rPr lang="en-IN" dirty="0">
                <a:latin typeface="Times New Roman" panose="02020603050405020304" pitchFamily="18" charset="0"/>
                <a:ea typeface="Times New Roman" panose="02020603050405020304" pitchFamily="18" charset="0"/>
              </a:rPr>
              <a:t>, </a:t>
            </a:r>
            <a:r>
              <a:rPr lang="en-IN" dirty="0" err="1">
                <a:latin typeface="Times New Roman" panose="02020603050405020304" pitchFamily="18" charset="0"/>
                <a:ea typeface="Times New Roman" panose="02020603050405020304" pitchFamily="18" charset="0"/>
              </a:rPr>
              <a:t>b.title</a:t>
            </a:r>
            <a:r>
              <a:rPr lang="en-IN" dirty="0">
                <a:latin typeface="Times New Roman" panose="02020603050405020304" pitchFamily="18" charset="0"/>
                <a:ea typeface="Times New Roman" panose="02020603050405020304" pitchFamily="18" charset="0"/>
              </a:rPr>
              <a:t>, </a:t>
            </a:r>
            <a:r>
              <a:rPr lang="en-IN" dirty="0" err="1">
                <a:latin typeface="Times New Roman" panose="02020603050405020304" pitchFamily="18" charset="0"/>
                <a:ea typeface="Times New Roman" panose="02020603050405020304" pitchFamily="18" charset="0"/>
              </a:rPr>
              <a:t>p.publisher_name</a:t>
            </a:r>
            <a:endParaRPr lang="en-IN" b="1" dirty="0">
              <a:latin typeface="Times New Roman" panose="02020603050405020304" pitchFamily="18" charset="0"/>
              <a:ea typeface="Times New Roman" panose="02020603050405020304" pitchFamily="18" charset="0"/>
            </a:endParaRPr>
          </a:p>
          <a:p>
            <a:pPr algn="just">
              <a:spcBef>
                <a:spcPts val="1200"/>
              </a:spcBef>
              <a:spcAft>
                <a:spcPts val="600"/>
              </a:spcAft>
            </a:pPr>
            <a:r>
              <a:rPr lang="en-IN" dirty="0">
                <a:latin typeface="Times New Roman" panose="02020603050405020304" pitchFamily="18" charset="0"/>
                <a:ea typeface="Times New Roman" panose="02020603050405020304" pitchFamily="18" charset="0"/>
              </a:rPr>
              <a:t>FROM Book b</a:t>
            </a:r>
            <a:endParaRPr lang="en-IN" b="1" dirty="0">
              <a:latin typeface="Times New Roman" panose="02020603050405020304" pitchFamily="18" charset="0"/>
              <a:ea typeface="Times New Roman" panose="02020603050405020304" pitchFamily="18" charset="0"/>
            </a:endParaRPr>
          </a:p>
          <a:p>
            <a:pPr algn="just">
              <a:spcBef>
                <a:spcPts val="1200"/>
              </a:spcBef>
              <a:spcAft>
                <a:spcPts val="600"/>
              </a:spcAft>
            </a:pPr>
            <a:r>
              <a:rPr lang="en-IN" dirty="0">
                <a:latin typeface="Times New Roman" panose="02020603050405020304" pitchFamily="18" charset="0"/>
                <a:ea typeface="Times New Roman" panose="02020603050405020304" pitchFamily="18" charset="0"/>
              </a:rPr>
              <a:t>LEFT JOIN Publisher p</a:t>
            </a:r>
            <a:endParaRPr lang="en-IN" b="1" dirty="0">
              <a:latin typeface="Times New Roman" panose="02020603050405020304" pitchFamily="18" charset="0"/>
              <a:ea typeface="Times New Roman" panose="02020603050405020304" pitchFamily="18" charset="0"/>
            </a:endParaRPr>
          </a:p>
          <a:p>
            <a:pPr algn="just">
              <a:spcBef>
                <a:spcPts val="1200"/>
              </a:spcBef>
              <a:spcAft>
                <a:spcPts val="600"/>
              </a:spcAft>
            </a:pPr>
            <a:r>
              <a:rPr lang="en-IN" dirty="0">
                <a:latin typeface="Times New Roman" panose="02020603050405020304" pitchFamily="18" charset="0"/>
                <a:ea typeface="Times New Roman" panose="02020603050405020304" pitchFamily="18" charset="0"/>
              </a:rPr>
              <a:t>ON </a:t>
            </a:r>
            <a:r>
              <a:rPr lang="en-IN" dirty="0" err="1">
                <a:latin typeface="Times New Roman" panose="02020603050405020304" pitchFamily="18" charset="0"/>
                <a:ea typeface="Times New Roman" panose="02020603050405020304" pitchFamily="18" charset="0"/>
              </a:rPr>
              <a:t>b.publisher_id</a:t>
            </a:r>
            <a:r>
              <a:rPr lang="en-IN" dirty="0">
                <a:latin typeface="Times New Roman" panose="02020603050405020304" pitchFamily="18" charset="0"/>
                <a:ea typeface="Times New Roman" panose="02020603050405020304" pitchFamily="18" charset="0"/>
              </a:rPr>
              <a:t> = </a:t>
            </a:r>
            <a:r>
              <a:rPr lang="en-IN" dirty="0" err="1">
                <a:latin typeface="Times New Roman" panose="02020603050405020304" pitchFamily="18" charset="0"/>
                <a:ea typeface="Times New Roman" panose="02020603050405020304" pitchFamily="18" charset="0"/>
              </a:rPr>
              <a:t>p.publisher_id</a:t>
            </a:r>
            <a:r>
              <a:rPr lang="en-IN" dirty="0">
                <a:latin typeface="Times New Roman" panose="02020603050405020304" pitchFamily="18" charset="0"/>
                <a:ea typeface="Times New Roman" panose="02020603050405020304" pitchFamily="18" charset="0"/>
              </a:rPr>
              <a:t>;</a:t>
            </a:r>
            <a:endParaRPr lang="en-IN" sz="1300" b="1" dirty="0">
              <a:solidFill>
                <a:srgbClr val="000000"/>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077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01F9DA97-4661-5452-1DE3-51369ADED929}"/>
              </a:ext>
            </a:extLst>
          </p:cNvPr>
          <p:cNvGrpSpPr/>
          <p:nvPr/>
        </p:nvGrpSpPr>
        <p:grpSpPr>
          <a:xfrm>
            <a:off x="4546600" y="85009"/>
            <a:ext cx="5103904" cy="1198311"/>
            <a:chOff x="2648188" y="47148"/>
            <a:chExt cx="5103904" cy="1198311"/>
          </a:xfrm>
        </p:grpSpPr>
        <p:pic>
          <p:nvPicPr>
            <p:cNvPr id="5" name="object 4">
              <a:extLst>
                <a:ext uri="{FF2B5EF4-FFF2-40B4-BE49-F238E27FC236}">
                  <a16:creationId xmlns:a16="http://schemas.microsoft.com/office/drawing/2014/main" id="{CB80B13E-E4DB-E0CB-B57F-37B1D3D65740}"/>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1301EE84-6833-0467-66D0-8CED38BD4A9B}"/>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8504EC48-7530-038A-D44F-C3797DD03A6D}"/>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7829C95F-126A-BECC-DBB3-5DA9BE1B1D9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TextBox 9">
            <a:extLst>
              <a:ext uri="{FF2B5EF4-FFF2-40B4-BE49-F238E27FC236}">
                <a16:creationId xmlns:a16="http://schemas.microsoft.com/office/drawing/2014/main" id="{5FDD2498-F9FB-4F67-7A3E-9772CBB862DF}"/>
              </a:ext>
            </a:extLst>
          </p:cNvPr>
          <p:cNvSpPr txBox="1"/>
          <p:nvPr/>
        </p:nvSpPr>
        <p:spPr>
          <a:xfrm>
            <a:off x="5003801" y="320754"/>
            <a:ext cx="4419599"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CRUD &amp; SQL QUERIES</a:t>
            </a:r>
          </a:p>
        </p:txBody>
      </p:sp>
      <p:sp>
        <p:nvSpPr>
          <p:cNvPr id="17" name="TextBox 16">
            <a:extLst>
              <a:ext uri="{FF2B5EF4-FFF2-40B4-BE49-F238E27FC236}">
                <a16:creationId xmlns:a16="http://schemas.microsoft.com/office/drawing/2014/main" id="{84EBC19A-9B02-C037-7993-8BD01E58244C}"/>
              </a:ext>
            </a:extLst>
          </p:cNvPr>
          <p:cNvSpPr txBox="1"/>
          <p:nvPr/>
        </p:nvSpPr>
        <p:spPr>
          <a:xfrm>
            <a:off x="2903917" y="1066801"/>
            <a:ext cx="6519484" cy="1200329"/>
          </a:xfrm>
          <a:prstGeom prst="rect">
            <a:avLst/>
          </a:prstGeom>
          <a:noFill/>
        </p:spPr>
        <p:txBody>
          <a:bodyPr wrap="square">
            <a:spAutoFit/>
          </a:bodyPr>
          <a:lstStyle/>
          <a:p>
            <a:r>
              <a:rPr lang="en-IN" dirty="0">
                <a:solidFill>
                  <a:srgbClr val="FF0000"/>
                </a:solidFill>
              </a:rPr>
              <a:t>VIEWS</a:t>
            </a:r>
          </a:p>
          <a:p>
            <a:r>
              <a:rPr lang="en-IN" dirty="0"/>
              <a:t>CREATE VIEW </a:t>
            </a:r>
            <a:r>
              <a:rPr lang="en-IN" dirty="0" err="1"/>
              <a:t>Publisher_View</a:t>
            </a:r>
            <a:r>
              <a:rPr lang="en-IN" dirty="0"/>
              <a:t> AS</a:t>
            </a:r>
          </a:p>
          <a:p>
            <a:r>
              <a:rPr lang="en-IN" dirty="0"/>
              <a:t>SELECT </a:t>
            </a:r>
            <a:r>
              <a:rPr lang="en-IN" dirty="0" err="1"/>
              <a:t>publisher_id</a:t>
            </a:r>
            <a:r>
              <a:rPr lang="en-IN" dirty="0"/>
              <a:t>, </a:t>
            </a:r>
            <a:r>
              <a:rPr lang="en-IN" dirty="0" err="1"/>
              <a:t>publisher_name</a:t>
            </a:r>
            <a:r>
              <a:rPr lang="en-IN" dirty="0"/>
              <a:t>, country</a:t>
            </a:r>
          </a:p>
          <a:p>
            <a:r>
              <a:rPr lang="en-IN" dirty="0"/>
              <a:t>FROM Publisher;</a:t>
            </a:r>
          </a:p>
        </p:txBody>
      </p:sp>
      <p:pic>
        <p:nvPicPr>
          <p:cNvPr id="19" name="Picture 18">
            <a:extLst>
              <a:ext uri="{FF2B5EF4-FFF2-40B4-BE49-F238E27FC236}">
                <a16:creationId xmlns:a16="http://schemas.microsoft.com/office/drawing/2014/main" id="{19CA47FE-0D9B-B99E-EACC-841B8B867FE7}"/>
              </a:ext>
            </a:extLst>
          </p:cNvPr>
          <p:cNvPicPr>
            <a:picLocks noChangeAspect="1"/>
          </p:cNvPicPr>
          <p:nvPr/>
        </p:nvPicPr>
        <p:blipFill>
          <a:blip r:embed="rId5"/>
          <a:stretch>
            <a:fillRect/>
          </a:stretch>
        </p:blipFill>
        <p:spPr>
          <a:xfrm>
            <a:off x="2717801" y="2343762"/>
            <a:ext cx="7891085" cy="3438509"/>
          </a:xfrm>
          <a:prstGeom prst="rect">
            <a:avLst/>
          </a:prstGeom>
        </p:spPr>
      </p:pic>
    </p:spTree>
    <p:extLst>
      <p:ext uri="{BB962C8B-B14F-4D97-AF65-F5344CB8AC3E}">
        <p14:creationId xmlns:p14="http://schemas.microsoft.com/office/powerpoint/2010/main" val="175474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4842982" y="321325"/>
            <a:ext cx="5266218"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DATA INTEGRITY &amp; VALIDATION</a:t>
            </a:r>
          </a:p>
        </p:txBody>
      </p:sp>
      <p:graphicFrame>
        <p:nvGraphicFramePr>
          <p:cNvPr id="11" name="Table 10">
            <a:extLst>
              <a:ext uri="{FF2B5EF4-FFF2-40B4-BE49-F238E27FC236}">
                <a16:creationId xmlns:a16="http://schemas.microsoft.com/office/drawing/2014/main" id="{1B72D6FC-EFB7-D31D-AC85-623FCBA5A92D}"/>
              </a:ext>
            </a:extLst>
          </p:cNvPr>
          <p:cNvGraphicFramePr>
            <a:graphicFrameLocks noGrp="1"/>
          </p:cNvGraphicFramePr>
          <p:nvPr>
            <p:extLst>
              <p:ext uri="{D42A27DB-BD31-4B8C-83A1-F6EECF244321}">
                <p14:modId xmlns:p14="http://schemas.microsoft.com/office/powerpoint/2010/main" val="573618555"/>
              </p:ext>
            </p:extLst>
          </p:nvPr>
        </p:nvGraphicFramePr>
        <p:xfrm>
          <a:off x="2717802" y="1651000"/>
          <a:ext cx="8603373" cy="5054602"/>
        </p:xfrm>
        <a:graphic>
          <a:graphicData uri="http://schemas.openxmlformats.org/drawingml/2006/table">
            <a:tbl>
              <a:tblPr firstRow="1" bandRow="1">
                <a:tableStyleId>{5C22544A-7EE6-4342-B048-85BDC9FD1C3A}</a:tableStyleId>
              </a:tblPr>
              <a:tblGrid>
                <a:gridCol w="2867791">
                  <a:extLst>
                    <a:ext uri="{9D8B030D-6E8A-4147-A177-3AD203B41FA5}">
                      <a16:colId xmlns:a16="http://schemas.microsoft.com/office/drawing/2014/main" val="3993751096"/>
                    </a:ext>
                  </a:extLst>
                </a:gridCol>
                <a:gridCol w="2867791">
                  <a:extLst>
                    <a:ext uri="{9D8B030D-6E8A-4147-A177-3AD203B41FA5}">
                      <a16:colId xmlns:a16="http://schemas.microsoft.com/office/drawing/2014/main" val="4034993709"/>
                    </a:ext>
                  </a:extLst>
                </a:gridCol>
                <a:gridCol w="2867791">
                  <a:extLst>
                    <a:ext uri="{9D8B030D-6E8A-4147-A177-3AD203B41FA5}">
                      <a16:colId xmlns:a16="http://schemas.microsoft.com/office/drawing/2014/main" val="3009778793"/>
                    </a:ext>
                  </a:extLst>
                </a:gridCol>
              </a:tblGrid>
              <a:tr h="722086">
                <a:tc>
                  <a:txBody>
                    <a:bodyPr/>
                    <a:lstStyle/>
                    <a:p>
                      <a:pPr>
                        <a:buNone/>
                      </a:pPr>
                      <a:r>
                        <a:rPr lang="en-IN" dirty="0"/>
                        <a:t>Constraint</a:t>
                      </a:r>
                    </a:p>
                  </a:txBody>
                  <a:tcPr anchor="ctr"/>
                </a:tc>
                <a:tc>
                  <a:txBody>
                    <a:bodyPr/>
                    <a:lstStyle/>
                    <a:p>
                      <a:pPr>
                        <a:buNone/>
                      </a:pPr>
                      <a:r>
                        <a:rPr lang="en-IN"/>
                        <a:t>Applied On</a:t>
                      </a:r>
                    </a:p>
                  </a:txBody>
                  <a:tcPr anchor="ctr"/>
                </a:tc>
                <a:tc>
                  <a:txBody>
                    <a:bodyPr/>
                    <a:lstStyle/>
                    <a:p>
                      <a:pPr>
                        <a:buNone/>
                      </a:pPr>
                      <a:r>
                        <a:rPr lang="en-IN"/>
                        <a:t>Purpose</a:t>
                      </a:r>
                    </a:p>
                  </a:txBody>
                  <a:tcPr anchor="ctr"/>
                </a:tc>
                <a:extLst>
                  <a:ext uri="{0D108BD9-81ED-4DB2-BD59-A6C34878D82A}">
                    <a16:rowId xmlns:a16="http://schemas.microsoft.com/office/drawing/2014/main" val="2289065165"/>
                  </a:ext>
                </a:extLst>
              </a:tr>
              <a:tr h="722086">
                <a:tc>
                  <a:txBody>
                    <a:bodyPr/>
                    <a:lstStyle/>
                    <a:p>
                      <a:pPr>
                        <a:buNone/>
                      </a:pPr>
                      <a:r>
                        <a:rPr lang="en-IN"/>
                        <a:t>PRIMARY KEY</a:t>
                      </a:r>
                    </a:p>
                  </a:txBody>
                  <a:tcPr anchor="ctr"/>
                </a:tc>
                <a:tc>
                  <a:txBody>
                    <a:bodyPr/>
                    <a:lstStyle/>
                    <a:p>
                      <a:pPr>
                        <a:buNone/>
                      </a:pPr>
                      <a:r>
                        <a:rPr lang="en-IN"/>
                        <a:t>All tables</a:t>
                      </a:r>
                    </a:p>
                  </a:txBody>
                  <a:tcPr anchor="ctr"/>
                </a:tc>
                <a:tc>
                  <a:txBody>
                    <a:bodyPr/>
                    <a:lstStyle/>
                    <a:p>
                      <a:pPr>
                        <a:buNone/>
                      </a:pPr>
                      <a:r>
                        <a:rPr lang="en-IN"/>
                        <a:t>Uniquely identifies each record</a:t>
                      </a:r>
                    </a:p>
                  </a:txBody>
                  <a:tcPr anchor="ctr"/>
                </a:tc>
                <a:extLst>
                  <a:ext uri="{0D108BD9-81ED-4DB2-BD59-A6C34878D82A}">
                    <a16:rowId xmlns:a16="http://schemas.microsoft.com/office/drawing/2014/main" val="1607802831"/>
                  </a:ext>
                </a:extLst>
              </a:tr>
              <a:tr h="722086">
                <a:tc>
                  <a:txBody>
                    <a:bodyPr/>
                    <a:lstStyle/>
                    <a:p>
                      <a:pPr>
                        <a:buNone/>
                      </a:pPr>
                      <a:r>
                        <a:rPr lang="en-IN"/>
                        <a:t>FOREIGN KEY</a:t>
                      </a:r>
                    </a:p>
                  </a:txBody>
                  <a:tcPr anchor="ctr"/>
                </a:tc>
                <a:tc>
                  <a:txBody>
                    <a:bodyPr/>
                    <a:lstStyle/>
                    <a:p>
                      <a:pPr>
                        <a:buNone/>
                      </a:pPr>
                      <a:r>
                        <a:rPr lang="en-IN"/>
                        <a:t>Book, Book_Author, Loan, Fine</a:t>
                      </a:r>
                    </a:p>
                  </a:txBody>
                  <a:tcPr anchor="ctr"/>
                </a:tc>
                <a:tc>
                  <a:txBody>
                    <a:bodyPr/>
                    <a:lstStyle/>
                    <a:p>
                      <a:pPr>
                        <a:buNone/>
                      </a:pPr>
                      <a:r>
                        <a:rPr lang="en-IN"/>
                        <a:t>Maintains relationships</a:t>
                      </a:r>
                    </a:p>
                  </a:txBody>
                  <a:tcPr anchor="ctr"/>
                </a:tc>
                <a:extLst>
                  <a:ext uri="{0D108BD9-81ED-4DB2-BD59-A6C34878D82A}">
                    <a16:rowId xmlns:a16="http://schemas.microsoft.com/office/drawing/2014/main" val="3886929146"/>
                  </a:ext>
                </a:extLst>
              </a:tr>
              <a:tr h="722086">
                <a:tc>
                  <a:txBody>
                    <a:bodyPr/>
                    <a:lstStyle/>
                    <a:p>
                      <a:pPr>
                        <a:buNone/>
                      </a:pPr>
                      <a:r>
                        <a:rPr lang="en-IN"/>
                        <a:t>NOT NULL</a:t>
                      </a:r>
                    </a:p>
                  </a:txBody>
                  <a:tcPr anchor="ctr"/>
                </a:tc>
                <a:tc>
                  <a:txBody>
                    <a:bodyPr/>
                    <a:lstStyle/>
                    <a:p>
                      <a:pPr>
                        <a:buNone/>
                      </a:pPr>
                      <a:r>
                        <a:rPr lang="en-IN"/>
                        <a:t>Book, Publisher, Loan, etc.</a:t>
                      </a:r>
                    </a:p>
                  </a:txBody>
                  <a:tcPr anchor="ctr"/>
                </a:tc>
                <a:tc>
                  <a:txBody>
                    <a:bodyPr/>
                    <a:lstStyle/>
                    <a:p>
                      <a:pPr>
                        <a:buNone/>
                      </a:pPr>
                      <a:r>
                        <a:rPr lang="en-IN"/>
                        <a:t>Prevents missing required values</a:t>
                      </a:r>
                    </a:p>
                  </a:txBody>
                  <a:tcPr anchor="ctr"/>
                </a:tc>
                <a:extLst>
                  <a:ext uri="{0D108BD9-81ED-4DB2-BD59-A6C34878D82A}">
                    <a16:rowId xmlns:a16="http://schemas.microsoft.com/office/drawing/2014/main" val="3093473139"/>
                  </a:ext>
                </a:extLst>
              </a:tr>
              <a:tr h="722086">
                <a:tc>
                  <a:txBody>
                    <a:bodyPr/>
                    <a:lstStyle/>
                    <a:p>
                      <a:pPr>
                        <a:buNone/>
                      </a:pPr>
                      <a:r>
                        <a:rPr lang="en-IN"/>
                        <a:t>UNIQUE</a:t>
                      </a:r>
                    </a:p>
                  </a:txBody>
                  <a:tcPr anchor="ctr"/>
                </a:tc>
                <a:tc>
                  <a:txBody>
                    <a:bodyPr/>
                    <a:lstStyle/>
                    <a:p>
                      <a:pPr>
                        <a:buNone/>
                      </a:pPr>
                      <a:r>
                        <a:rPr lang="en-IN"/>
                        <a:t>Book.isbn, Member.email</a:t>
                      </a:r>
                    </a:p>
                  </a:txBody>
                  <a:tcPr anchor="ctr"/>
                </a:tc>
                <a:tc>
                  <a:txBody>
                    <a:bodyPr/>
                    <a:lstStyle/>
                    <a:p>
                      <a:pPr>
                        <a:buNone/>
                      </a:pPr>
                      <a:r>
                        <a:rPr lang="en-IN"/>
                        <a:t>Prevents duplicate values</a:t>
                      </a:r>
                    </a:p>
                  </a:txBody>
                  <a:tcPr anchor="ctr"/>
                </a:tc>
                <a:extLst>
                  <a:ext uri="{0D108BD9-81ED-4DB2-BD59-A6C34878D82A}">
                    <a16:rowId xmlns:a16="http://schemas.microsoft.com/office/drawing/2014/main" val="1378496602"/>
                  </a:ext>
                </a:extLst>
              </a:tr>
              <a:tr h="722086">
                <a:tc>
                  <a:txBody>
                    <a:bodyPr/>
                    <a:lstStyle/>
                    <a:p>
                      <a:pPr>
                        <a:buNone/>
                      </a:pPr>
                      <a:r>
                        <a:rPr lang="en-IN"/>
                        <a:t>CHECK</a:t>
                      </a:r>
                    </a:p>
                  </a:txBody>
                  <a:tcPr anchor="ctr"/>
                </a:tc>
                <a:tc>
                  <a:txBody>
                    <a:bodyPr/>
                    <a:lstStyle/>
                    <a:p>
                      <a:pPr>
                        <a:buNone/>
                      </a:pPr>
                      <a:r>
                        <a:rPr lang="en-IN"/>
                        <a:t>Fine.fine_amount</a:t>
                      </a:r>
                    </a:p>
                  </a:txBody>
                  <a:tcPr anchor="ctr"/>
                </a:tc>
                <a:tc>
                  <a:txBody>
                    <a:bodyPr/>
                    <a:lstStyle/>
                    <a:p>
                      <a:pPr>
                        <a:buNone/>
                      </a:pPr>
                      <a:r>
                        <a:rPr lang="en-IN"/>
                        <a:t>Ensures valid values</a:t>
                      </a:r>
                    </a:p>
                  </a:txBody>
                  <a:tcPr anchor="ctr"/>
                </a:tc>
                <a:extLst>
                  <a:ext uri="{0D108BD9-81ED-4DB2-BD59-A6C34878D82A}">
                    <a16:rowId xmlns:a16="http://schemas.microsoft.com/office/drawing/2014/main" val="2357458344"/>
                  </a:ext>
                </a:extLst>
              </a:tr>
              <a:tr h="722086">
                <a:tc>
                  <a:txBody>
                    <a:bodyPr/>
                    <a:lstStyle/>
                    <a:p>
                      <a:pPr>
                        <a:buNone/>
                      </a:pPr>
                      <a:r>
                        <a:rPr lang="en-IN"/>
                        <a:t>DEFAULT</a:t>
                      </a:r>
                    </a:p>
                  </a:txBody>
                  <a:tcPr anchor="ctr"/>
                </a:tc>
                <a:tc>
                  <a:txBody>
                    <a:bodyPr/>
                    <a:lstStyle/>
                    <a:p>
                      <a:pPr>
                        <a:buNone/>
                      </a:pPr>
                      <a:r>
                        <a:rPr lang="en-IN"/>
                        <a:t>Fine.payment_status</a:t>
                      </a:r>
                    </a:p>
                  </a:txBody>
                  <a:tcPr anchor="ctr"/>
                </a:tc>
                <a:tc>
                  <a:txBody>
                    <a:bodyPr/>
                    <a:lstStyle/>
                    <a:p>
                      <a:pPr>
                        <a:buNone/>
                      </a:pPr>
                      <a:r>
                        <a:rPr lang="en-IN" dirty="0"/>
                        <a:t>Provides default values</a:t>
                      </a:r>
                    </a:p>
                  </a:txBody>
                  <a:tcPr anchor="ctr"/>
                </a:tc>
                <a:extLst>
                  <a:ext uri="{0D108BD9-81ED-4DB2-BD59-A6C34878D82A}">
                    <a16:rowId xmlns:a16="http://schemas.microsoft.com/office/drawing/2014/main" val="2350622467"/>
                  </a:ext>
                </a:extLst>
              </a:tr>
            </a:tbl>
          </a:graphicData>
        </a:graphic>
      </p:graphicFrame>
    </p:spTree>
    <p:extLst>
      <p:ext uri="{BB962C8B-B14F-4D97-AF65-F5344CB8AC3E}">
        <p14:creationId xmlns:p14="http://schemas.microsoft.com/office/powerpoint/2010/main" val="26077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20B8B724-A73F-F006-222B-6A4FF27EB83E}"/>
              </a:ext>
            </a:extLst>
          </p:cNvPr>
          <p:cNvGrpSpPr/>
          <p:nvPr/>
        </p:nvGrpSpPr>
        <p:grpSpPr>
          <a:xfrm>
            <a:off x="4356848" y="152401"/>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3"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4"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5"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5824855" y="432593"/>
            <a:ext cx="2167890" cy="327660"/>
          </a:xfrm>
          <a:prstGeom prst="rect">
            <a:avLst/>
          </a:prstGeom>
        </p:spPr>
        <p:txBody>
          <a:bodyPr vert="horz" wrap="square" lIns="0" tIns="16510" rIns="0" bIns="0" rtlCol="0">
            <a:spAutoFit/>
          </a:bodyPr>
          <a:lstStyle/>
          <a:p>
            <a:pPr marL="12700">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6" cstate="print"/>
          <a:stretch>
            <a:fillRect/>
          </a:stretch>
        </p:blipFill>
        <p:spPr>
          <a:xfrm>
            <a:off x="2170350" y="204311"/>
            <a:ext cx="1163002" cy="424338"/>
          </a:xfrm>
          <a:prstGeom prst="rect">
            <a:avLst/>
          </a:prstGeom>
        </p:spPr>
      </p:pic>
      <p:sp>
        <p:nvSpPr>
          <p:cNvPr id="4" name="TextBox 3">
            <a:extLst>
              <a:ext uri="{FF2B5EF4-FFF2-40B4-BE49-F238E27FC236}">
                <a16:creationId xmlns:a16="http://schemas.microsoft.com/office/drawing/2014/main" id="{B058AE2B-F4F2-BD7E-BAE1-0AC3ACE52B59}"/>
              </a:ext>
            </a:extLst>
          </p:cNvPr>
          <p:cNvSpPr txBox="1"/>
          <p:nvPr/>
        </p:nvSpPr>
        <p:spPr>
          <a:xfrm>
            <a:off x="2717800" y="1441079"/>
            <a:ext cx="8763000" cy="5509200"/>
          </a:xfrm>
          <a:prstGeom prst="rect">
            <a:avLst/>
          </a:prstGeom>
          <a:noFill/>
        </p:spPr>
        <p:txBody>
          <a:bodyPr wrap="square">
            <a:spAutoFit/>
          </a:bodyPr>
          <a:lstStyle/>
          <a:p>
            <a:pPr algn="just">
              <a:buNone/>
            </a:pPr>
            <a:r>
              <a:rPr lang="en-IN" sz="2400" b="1" dirty="0"/>
              <a:t>Conclusion</a:t>
            </a:r>
          </a:p>
          <a:p>
            <a:pPr algn="just">
              <a:buNone/>
            </a:pPr>
            <a:r>
              <a:rPr lang="en-IN" dirty="0"/>
              <a:t>The </a:t>
            </a:r>
            <a:r>
              <a:rPr lang="en-IN" b="1" dirty="0"/>
              <a:t>Library Management System</a:t>
            </a:r>
            <a:r>
              <a:rPr lang="en-IN" dirty="0"/>
              <a:t> provides a structured relational database for managing books, authors, publishers, members, loans and fines.</a:t>
            </a:r>
          </a:p>
          <a:p>
            <a:pPr algn="just">
              <a:buNone/>
            </a:pPr>
            <a:endParaRPr lang="en-IN" dirty="0"/>
          </a:p>
          <a:p>
            <a:pPr algn="just">
              <a:buNone/>
            </a:pPr>
            <a:r>
              <a:rPr lang="en-IN" b="1" dirty="0"/>
              <a:t>Key Learnings</a:t>
            </a:r>
          </a:p>
          <a:p>
            <a:pPr marL="342900" indent="-342900" algn="just">
              <a:buFont typeface="Arial" panose="020B0604020202020204" pitchFamily="34" charset="0"/>
              <a:buChar char="•"/>
            </a:pPr>
            <a:r>
              <a:rPr lang="en-IN" dirty="0"/>
              <a:t>Database design using entities and relationships. </a:t>
            </a:r>
          </a:p>
          <a:p>
            <a:pPr marL="342900" indent="-342900" algn="just">
              <a:buFont typeface="Arial" panose="020B0604020202020204" pitchFamily="34" charset="0"/>
              <a:buChar char="•"/>
            </a:pPr>
            <a:r>
              <a:rPr lang="en-IN" dirty="0"/>
              <a:t>ER diagram and relational schema design. </a:t>
            </a:r>
          </a:p>
          <a:p>
            <a:pPr marL="342900" indent="-342900" algn="just">
              <a:buFont typeface="Arial" panose="020B0604020202020204" pitchFamily="34" charset="0"/>
              <a:buChar char="•"/>
            </a:pPr>
            <a:r>
              <a:rPr lang="en-IN" dirty="0"/>
              <a:t>Primary and Foreign Key implementation. </a:t>
            </a:r>
          </a:p>
          <a:p>
            <a:pPr marL="342900" indent="-342900" algn="just">
              <a:buFont typeface="Arial" panose="020B0604020202020204" pitchFamily="34" charset="0"/>
              <a:buChar char="•"/>
            </a:pPr>
            <a:r>
              <a:rPr lang="en-IN" dirty="0"/>
              <a:t>SQL DDL, DML and DQL operations. </a:t>
            </a:r>
          </a:p>
          <a:p>
            <a:pPr marL="342900" indent="-342900" algn="just">
              <a:buFont typeface="Arial" panose="020B0604020202020204" pitchFamily="34" charset="0"/>
              <a:buChar char="•"/>
            </a:pPr>
            <a:r>
              <a:rPr lang="en-IN" dirty="0"/>
              <a:t>CRUD operations and SQL queries. </a:t>
            </a:r>
          </a:p>
          <a:p>
            <a:pPr marL="342900" indent="-342900" algn="just">
              <a:buFont typeface="Arial" panose="020B0604020202020204" pitchFamily="34" charset="0"/>
              <a:buChar char="•"/>
            </a:pPr>
            <a:r>
              <a:rPr lang="en-IN" dirty="0"/>
              <a:t>Data integrity and validation. </a:t>
            </a:r>
          </a:p>
          <a:p>
            <a:pPr marL="342900" indent="-342900" algn="just">
              <a:buFont typeface="Arial" panose="020B0604020202020204" pitchFamily="34" charset="0"/>
              <a:buChar char="•"/>
            </a:pPr>
            <a:r>
              <a:rPr lang="en-IN" dirty="0"/>
              <a:t>Normalization up to 3NF. </a:t>
            </a:r>
          </a:p>
          <a:p>
            <a:pPr lvl="0" algn="just"/>
            <a:endParaRPr lang="en-IN" dirty="0"/>
          </a:p>
          <a:p>
            <a:pPr algn="just">
              <a:buNone/>
            </a:pPr>
            <a:r>
              <a:rPr lang="en-IN" b="1" dirty="0"/>
              <a:t>Future Enhancements</a:t>
            </a:r>
          </a:p>
          <a:p>
            <a:pPr marL="342900" indent="-342900" algn="just">
              <a:buFont typeface="Arial" panose="020B0604020202020204" pitchFamily="34" charset="0"/>
              <a:buChar char="•"/>
            </a:pPr>
            <a:r>
              <a:rPr lang="en-IN" dirty="0"/>
              <a:t>Online book reservation. </a:t>
            </a:r>
          </a:p>
          <a:p>
            <a:pPr marL="342900" indent="-342900" algn="just">
              <a:buFont typeface="Arial" panose="020B0604020202020204" pitchFamily="34" charset="0"/>
              <a:buChar char="•"/>
            </a:pPr>
            <a:r>
              <a:rPr lang="en-IN" dirty="0"/>
              <a:t>Member login system. </a:t>
            </a:r>
          </a:p>
          <a:p>
            <a:pPr marL="342900" indent="-342900" algn="just">
              <a:buFont typeface="Arial" panose="020B0604020202020204" pitchFamily="34" charset="0"/>
              <a:buChar char="•"/>
            </a:pPr>
            <a:r>
              <a:rPr lang="en-IN" dirty="0"/>
              <a:t>Automated fine calculation. </a:t>
            </a:r>
          </a:p>
          <a:p>
            <a:pPr marL="342900" indent="-342900" algn="just">
              <a:buFont typeface="Arial" panose="020B0604020202020204" pitchFamily="34" charset="0"/>
              <a:buChar char="•"/>
            </a:pPr>
            <a:r>
              <a:rPr lang="en-IN" dirty="0"/>
              <a:t>Book availability notifications. </a:t>
            </a:r>
          </a:p>
          <a:p>
            <a:pPr marL="342900" indent="-342900" algn="just">
              <a:buFont typeface="Arial" panose="020B0604020202020204" pitchFamily="34" charset="0"/>
              <a:buChar char="•"/>
            </a:pPr>
            <a:r>
              <a:rPr lang="en-IN" dirty="0"/>
              <a:t>Web-based library interface. </a:t>
            </a:r>
          </a:p>
        </p:txBody>
      </p:sp>
    </p:spTree>
    <p:extLst>
      <p:ext uri="{BB962C8B-B14F-4D97-AF65-F5344CB8AC3E}">
        <p14:creationId xmlns:p14="http://schemas.microsoft.com/office/powerpoint/2010/main" val="2694192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50800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1703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2961</TotalTime>
  <Words>1212</Words>
  <Application>Microsoft Office PowerPoint</Application>
  <PresentationFormat>Custom</PresentationFormat>
  <Paragraphs>233</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Palatino Linotype</vt:lpstr>
      <vt:lpstr>Times New Roman</vt:lpstr>
      <vt:lpstr>Office Theme</vt:lpstr>
      <vt:lpstr>Database Management Systems Cornerstone Project Final Review (Review I &amp; II)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RENUKA LAHARI</cp:lastModifiedBy>
  <cp:revision>61</cp:revision>
  <cp:lastPrinted>2025-10-14T18:21:49Z</cp:lastPrinted>
  <dcterms:created xsi:type="dcterms:W3CDTF">2025-10-10T08:28:06Z</dcterms:created>
  <dcterms:modified xsi:type="dcterms:W3CDTF">2026-09-30T03:57:48Z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